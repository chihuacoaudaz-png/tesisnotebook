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6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17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8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19.xml" ContentType="application/vnd.openxmlformats-officedocument.theme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theme/theme20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72" r:id="rId1"/>
    <p:sldMasterId id="2147483684" r:id="rId2"/>
    <p:sldMasterId id="2147483696" r:id="rId3"/>
    <p:sldMasterId id="2147483756" r:id="rId4"/>
    <p:sldMasterId id="2147483780" r:id="rId5"/>
    <p:sldMasterId id="2147483792" r:id="rId6"/>
    <p:sldMasterId id="2147483828" r:id="rId7"/>
    <p:sldMasterId id="2147483840" r:id="rId8"/>
    <p:sldMasterId id="2147483852" r:id="rId9"/>
    <p:sldMasterId id="2147483864" r:id="rId10"/>
    <p:sldMasterId id="2147483876" r:id="rId11"/>
    <p:sldMasterId id="2147483948" r:id="rId12"/>
    <p:sldMasterId id="2147483960" r:id="rId13"/>
    <p:sldMasterId id="2147483972" r:id="rId14"/>
    <p:sldMasterId id="2147483996" r:id="rId15"/>
    <p:sldMasterId id="2147484008" r:id="rId16"/>
    <p:sldMasterId id="2147484020" r:id="rId17"/>
    <p:sldMasterId id="2147484080" r:id="rId18"/>
    <p:sldMasterId id="2147484092" r:id="rId19"/>
    <p:sldMasterId id="2147484332" r:id="rId20"/>
  </p:sldMasterIdLst>
  <p:sldIdLst>
    <p:sldId id="427" r:id="rId21"/>
    <p:sldId id="431" r:id="rId22"/>
    <p:sldId id="429" r:id="rId23"/>
    <p:sldId id="287" r:id="rId24"/>
    <p:sldId id="288" r:id="rId25"/>
    <p:sldId id="270" r:id="rId26"/>
    <p:sldId id="261" r:id="rId27"/>
    <p:sldId id="432" r:id="rId28"/>
    <p:sldId id="350" r:id="rId29"/>
    <p:sldId id="351" r:id="rId30"/>
    <p:sldId id="352" r:id="rId31"/>
    <p:sldId id="366" r:id="rId32"/>
    <p:sldId id="360" r:id="rId33"/>
    <p:sldId id="361" r:id="rId34"/>
    <p:sldId id="369" r:id="rId35"/>
    <p:sldId id="370" r:id="rId36"/>
    <p:sldId id="362" r:id="rId37"/>
    <p:sldId id="363" r:id="rId38"/>
    <p:sldId id="364" r:id="rId39"/>
    <p:sldId id="365" r:id="rId40"/>
    <p:sldId id="400" r:id="rId41"/>
    <p:sldId id="426" r:id="rId42"/>
    <p:sldId id="433" r:id="rId43"/>
    <p:sldId id="402" r:id="rId44"/>
    <p:sldId id="401" r:id="rId45"/>
    <p:sldId id="405" r:id="rId46"/>
    <p:sldId id="404" r:id="rId47"/>
    <p:sldId id="406" r:id="rId48"/>
    <p:sldId id="407" r:id="rId49"/>
    <p:sldId id="347" r:id="rId50"/>
    <p:sldId id="348" r:id="rId51"/>
    <p:sldId id="349" r:id="rId52"/>
    <p:sldId id="299" r:id="rId53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99CCFF"/>
    <a:srgbClr val="CC66FF"/>
    <a:srgbClr val="FF99FF"/>
    <a:srgbClr val="99FF66"/>
    <a:srgbClr val="66FFFF"/>
    <a:srgbClr val="FF85AE"/>
    <a:srgbClr val="FF6699"/>
    <a:srgbClr val="FFCC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18" autoAdjust="0"/>
    <p:restoredTop sz="94660"/>
  </p:normalViewPr>
  <p:slideViewPr>
    <p:cSldViewPr>
      <p:cViewPr>
        <p:scale>
          <a:sx n="75" d="100"/>
          <a:sy n="75" d="100"/>
        </p:scale>
        <p:origin x="-821" y="-2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6.xml"/><Relationship Id="rId39" Type="http://schemas.openxmlformats.org/officeDocument/2006/relationships/slide" Target="slides/slide19.xml"/><Relationship Id="rId21" Type="http://schemas.openxmlformats.org/officeDocument/2006/relationships/slide" Target="slides/slide1.xml"/><Relationship Id="rId34" Type="http://schemas.openxmlformats.org/officeDocument/2006/relationships/slide" Target="slides/slide14.xml"/><Relationship Id="rId42" Type="http://schemas.openxmlformats.org/officeDocument/2006/relationships/slide" Target="slides/slide22.xml"/><Relationship Id="rId47" Type="http://schemas.openxmlformats.org/officeDocument/2006/relationships/slide" Target="slides/slide27.xml"/><Relationship Id="rId50" Type="http://schemas.openxmlformats.org/officeDocument/2006/relationships/slide" Target="slides/slide30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9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4.xml"/><Relationship Id="rId32" Type="http://schemas.openxmlformats.org/officeDocument/2006/relationships/slide" Target="slides/slide12.xml"/><Relationship Id="rId37" Type="http://schemas.openxmlformats.org/officeDocument/2006/relationships/slide" Target="slides/slide17.xml"/><Relationship Id="rId40" Type="http://schemas.openxmlformats.org/officeDocument/2006/relationships/slide" Target="slides/slide20.xml"/><Relationship Id="rId45" Type="http://schemas.openxmlformats.org/officeDocument/2006/relationships/slide" Target="slides/slide25.xml"/><Relationship Id="rId53" Type="http://schemas.openxmlformats.org/officeDocument/2006/relationships/slide" Target="slides/slide33.xml"/><Relationship Id="rId5" Type="http://schemas.openxmlformats.org/officeDocument/2006/relationships/slideMaster" Target="slideMasters/slideMaster5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2.xml"/><Relationship Id="rId27" Type="http://schemas.openxmlformats.org/officeDocument/2006/relationships/slide" Target="slides/slide7.xml"/><Relationship Id="rId30" Type="http://schemas.openxmlformats.org/officeDocument/2006/relationships/slide" Target="slides/slide10.xml"/><Relationship Id="rId35" Type="http://schemas.openxmlformats.org/officeDocument/2006/relationships/slide" Target="slides/slide15.xml"/><Relationship Id="rId43" Type="http://schemas.openxmlformats.org/officeDocument/2006/relationships/slide" Target="slides/slide23.xml"/><Relationship Id="rId48" Type="http://schemas.openxmlformats.org/officeDocument/2006/relationships/slide" Target="slides/slide28.xml"/><Relationship Id="rId56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5.xml"/><Relationship Id="rId33" Type="http://schemas.openxmlformats.org/officeDocument/2006/relationships/slide" Target="slides/slide13.xml"/><Relationship Id="rId38" Type="http://schemas.openxmlformats.org/officeDocument/2006/relationships/slide" Target="slides/slide18.xml"/><Relationship Id="rId46" Type="http://schemas.openxmlformats.org/officeDocument/2006/relationships/slide" Target="slides/slide26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21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3.xml"/><Relationship Id="rId28" Type="http://schemas.openxmlformats.org/officeDocument/2006/relationships/slide" Target="slides/slide8.xml"/><Relationship Id="rId36" Type="http://schemas.openxmlformats.org/officeDocument/2006/relationships/slide" Target="slides/slide16.xml"/><Relationship Id="rId49" Type="http://schemas.openxmlformats.org/officeDocument/2006/relationships/slide" Target="slides/slide29.xml"/><Relationship Id="rId57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1.xml"/><Relationship Id="rId44" Type="http://schemas.openxmlformats.org/officeDocument/2006/relationships/slide" Target="slides/slide24.xml"/><Relationship Id="rId52" Type="http://schemas.openxmlformats.org/officeDocument/2006/relationships/slide" Target="slides/slide3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6A4920-1C67-4FA6-B6D1-62131838361A}" type="doc">
      <dgm:prSet loTypeId="urn:microsoft.com/office/officeart/2005/8/layout/radial3" loCatId="cycl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PE"/>
        </a:p>
      </dgm:t>
    </dgm:pt>
    <dgm:pt modelId="{90BC37B5-69DD-497A-AA08-580056D0CD37}">
      <dgm:prSet phldrT="[Texto]" custT="1"/>
      <dgm:spPr/>
      <dgm:t>
        <a:bodyPr/>
        <a:lstStyle/>
        <a:p>
          <a:pPr algn="ctr"/>
          <a:r>
            <a:rPr lang="es-ES" sz="2800" b="1" dirty="0"/>
            <a:t>Proyecto de Investigación</a:t>
          </a:r>
          <a:endParaRPr lang="es-PE" sz="2800" b="1" i="1" dirty="0"/>
        </a:p>
      </dgm:t>
    </dgm:pt>
    <dgm:pt modelId="{02B07A3C-5899-4232-BBD2-A49B7BC80C64}" type="parTrans" cxnId="{0FDC77CD-D442-4444-B1C2-C80E37A4D31F}">
      <dgm:prSet/>
      <dgm:spPr/>
      <dgm:t>
        <a:bodyPr/>
        <a:lstStyle/>
        <a:p>
          <a:endParaRPr lang="es-PE"/>
        </a:p>
      </dgm:t>
    </dgm:pt>
    <dgm:pt modelId="{E39A029A-8DC2-41A3-AD79-F52B028FE6BB}" type="sibTrans" cxnId="{0FDC77CD-D442-4444-B1C2-C80E37A4D31F}">
      <dgm:prSet/>
      <dgm:spPr/>
      <dgm:t>
        <a:bodyPr/>
        <a:lstStyle/>
        <a:p>
          <a:endParaRPr lang="es-PE"/>
        </a:p>
      </dgm:t>
    </dgm:pt>
    <dgm:pt modelId="{5803296D-39A8-4225-9021-CA7C6EB66BE3}">
      <dgm:prSet phldrT="[Texto]" custT="1"/>
      <dgm:spPr/>
      <dgm:t>
        <a:bodyPr/>
        <a:lstStyle/>
        <a:p>
          <a:r>
            <a:rPr lang="es-ES" sz="1800" b="1" dirty="0"/>
            <a:t>NATURALEZA «PROPOSITIVA» COMO </a:t>
          </a:r>
          <a:r>
            <a:rPr lang="es-ES" sz="1600" b="1" dirty="0"/>
            <a:t>RESOLVER/REDUCIR</a:t>
          </a:r>
          <a:r>
            <a:rPr lang="es-ES" sz="1800" b="1" dirty="0"/>
            <a:t> EL PROBLEMA</a:t>
          </a:r>
          <a:endParaRPr lang="es-PE" sz="1800" b="1" dirty="0"/>
        </a:p>
      </dgm:t>
    </dgm:pt>
    <dgm:pt modelId="{D08A1B11-EE95-4A2E-8501-53C56879AE19}" type="parTrans" cxnId="{7F78742B-6F36-4EEC-A22F-E76EFEC5DE4A}">
      <dgm:prSet/>
      <dgm:spPr/>
      <dgm:t>
        <a:bodyPr/>
        <a:lstStyle/>
        <a:p>
          <a:endParaRPr lang="es-PE"/>
        </a:p>
      </dgm:t>
    </dgm:pt>
    <dgm:pt modelId="{FD9D7BFC-CE2D-40C8-8ABC-E63BCF8D81DE}" type="sibTrans" cxnId="{7F78742B-6F36-4EEC-A22F-E76EFEC5DE4A}">
      <dgm:prSet/>
      <dgm:spPr/>
      <dgm:t>
        <a:bodyPr/>
        <a:lstStyle/>
        <a:p>
          <a:endParaRPr lang="es-PE"/>
        </a:p>
      </dgm:t>
    </dgm:pt>
    <dgm:pt modelId="{C380CD18-EB92-46A5-8CFF-9ED667E2EA28}">
      <dgm:prSet phldrT="[Texto]" custT="1"/>
      <dgm:spPr/>
      <dgm:t>
        <a:bodyPr/>
        <a:lstStyle/>
        <a:p>
          <a:r>
            <a:rPr lang="es-ES" sz="2000" b="1" dirty="0"/>
            <a:t>Punto de Inicio: ESTUDIO DE UN PROBLEMA</a:t>
          </a:r>
          <a:endParaRPr lang="es-PE" sz="2000" b="1" dirty="0"/>
        </a:p>
      </dgm:t>
    </dgm:pt>
    <dgm:pt modelId="{FB68BEF4-C906-4456-8DA9-A5F530733B9C}" type="parTrans" cxnId="{C532D1F6-251D-4BAE-85C7-F5A2D3D1575D}">
      <dgm:prSet/>
      <dgm:spPr/>
      <dgm:t>
        <a:bodyPr/>
        <a:lstStyle/>
        <a:p>
          <a:endParaRPr lang="es-PE"/>
        </a:p>
      </dgm:t>
    </dgm:pt>
    <dgm:pt modelId="{26273B42-66EC-4675-BD98-64FE4E47998C}" type="sibTrans" cxnId="{C532D1F6-251D-4BAE-85C7-F5A2D3D1575D}">
      <dgm:prSet/>
      <dgm:spPr/>
      <dgm:t>
        <a:bodyPr/>
        <a:lstStyle/>
        <a:p>
          <a:endParaRPr lang="es-PE"/>
        </a:p>
      </dgm:t>
    </dgm:pt>
    <dgm:pt modelId="{5D493B3D-2CC6-40FC-864A-37F289BEF3D6}">
      <dgm:prSet custT="1"/>
      <dgm:spPr/>
      <dgm:t>
        <a:bodyPr/>
        <a:lstStyle/>
        <a:p>
          <a:r>
            <a:rPr lang="es-ES" sz="2000" b="1" dirty="0"/>
            <a:t>En BENEFICIO DE LA SOCIEDAD</a:t>
          </a:r>
          <a:endParaRPr lang="es-ES" sz="1800" b="1" dirty="0"/>
        </a:p>
      </dgm:t>
    </dgm:pt>
    <dgm:pt modelId="{E7BB6BAC-4647-4CCE-8C8B-26439AAA6F45}" type="parTrans" cxnId="{2C068201-DAB3-46CD-B2AE-529C43AEE7C1}">
      <dgm:prSet/>
      <dgm:spPr/>
      <dgm:t>
        <a:bodyPr/>
        <a:lstStyle/>
        <a:p>
          <a:endParaRPr lang="es-PE"/>
        </a:p>
      </dgm:t>
    </dgm:pt>
    <dgm:pt modelId="{415D9F11-622B-49E8-81D1-79BD686CC598}" type="sibTrans" cxnId="{2C068201-DAB3-46CD-B2AE-529C43AEE7C1}">
      <dgm:prSet/>
      <dgm:spPr/>
      <dgm:t>
        <a:bodyPr/>
        <a:lstStyle/>
        <a:p>
          <a:endParaRPr lang="es-PE"/>
        </a:p>
      </dgm:t>
    </dgm:pt>
    <dgm:pt modelId="{2763527C-1C5E-429C-888D-35DF4F9156D9}" type="pres">
      <dgm:prSet presAssocID="{E16A4920-1C67-4FA6-B6D1-62131838361A}" presName="composite" presStyleCnt="0">
        <dgm:presLayoutVars>
          <dgm:chMax val="1"/>
          <dgm:dir/>
          <dgm:resizeHandles val="exact"/>
        </dgm:presLayoutVars>
      </dgm:prSet>
      <dgm:spPr/>
    </dgm:pt>
    <dgm:pt modelId="{89D3A026-39A5-4DAE-99CC-47CEA39FE19B}" type="pres">
      <dgm:prSet presAssocID="{E16A4920-1C67-4FA6-B6D1-62131838361A}" presName="radial" presStyleCnt="0">
        <dgm:presLayoutVars>
          <dgm:animLvl val="ctr"/>
        </dgm:presLayoutVars>
      </dgm:prSet>
      <dgm:spPr/>
    </dgm:pt>
    <dgm:pt modelId="{4C77C70C-77D6-491A-85A4-58D7B990CDDD}" type="pres">
      <dgm:prSet presAssocID="{90BC37B5-69DD-497A-AA08-580056D0CD37}" presName="centerShape" presStyleLbl="vennNode1" presStyleIdx="0" presStyleCnt="4" custScaleX="152820" custScaleY="103183" custLinFactNeighborX="176"/>
      <dgm:spPr/>
    </dgm:pt>
    <dgm:pt modelId="{5D0D03A0-B4DF-4828-A7DE-A8A9DF1C09FD}" type="pres">
      <dgm:prSet presAssocID="{5D493B3D-2CC6-40FC-864A-37F289BEF3D6}" presName="node" presStyleLbl="vennNode1" presStyleIdx="1" presStyleCnt="4" custScaleX="190321" custScaleY="73528" custRadScaleRad="89562" custRadScaleInc="19874">
        <dgm:presLayoutVars>
          <dgm:bulletEnabled val="1"/>
        </dgm:presLayoutVars>
      </dgm:prSet>
      <dgm:spPr/>
    </dgm:pt>
    <dgm:pt modelId="{1080AA9E-A048-4E0D-87AD-A1E0C86FCBE7}" type="pres">
      <dgm:prSet presAssocID="{5803296D-39A8-4225-9021-CA7C6EB66BE3}" presName="node" presStyleLbl="vennNode1" presStyleIdx="2" presStyleCnt="4" custScaleX="182691" custScaleY="112171" custRadScaleRad="157147" custRadScaleInc="-24563">
        <dgm:presLayoutVars>
          <dgm:bulletEnabled val="1"/>
        </dgm:presLayoutVars>
      </dgm:prSet>
      <dgm:spPr/>
    </dgm:pt>
    <dgm:pt modelId="{3FD76EC8-9B4E-4D99-BAE4-6989E5E91C58}" type="pres">
      <dgm:prSet presAssocID="{C380CD18-EB92-46A5-8CFF-9ED667E2EA28}" presName="node" presStyleLbl="vennNode1" presStyleIdx="3" presStyleCnt="4" custScaleX="143552" custScaleY="110741" custRadScaleRad="154003" custRadScaleInc="21805">
        <dgm:presLayoutVars>
          <dgm:bulletEnabled val="1"/>
        </dgm:presLayoutVars>
      </dgm:prSet>
      <dgm:spPr/>
    </dgm:pt>
  </dgm:ptLst>
  <dgm:cxnLst>
    <dgm:cxn modelId="{2C068201-DAB3-46CD-B2AE-529C43AEE7C1}" srcId="{90BC37B5-69DD-497A-AA08-580056D0CD37}" destId="{5D493B3D-2CC6-40FC-864A-37F289BEF3D6}" srcOrd="0" destOrd="0" parTransId="{E7BB6BAC-4647-4CCE-8C8B-26439AAA6F45}" sibTransId="{415D9F11-622B-49E8-81D1-79BD686CC598}"/>
    <dgm:cxn modelId="{230A5917-1E1D-40EB-8DD7-397CCBEE8C96}" type="presOf" srcId="{E16A4920-1C67-4FA6-B6D1-62131838361A}" destId="{2763527C-1C5E-429C-888D-35DF4F9156D9}" srcOrd="0" destOrd="0" presId="urn:microsoft.com/office/officeart/2005/8/layout/radial3"/>
    <dgm:cxn modelId="{7F78742B-6F36-4EEC-A22F-E76EFEC5DE4A}" srcId="{90BC37B5-69DD-497A-AA08-580056D0CD37}" destId="{5803296D-39A8-4225-9021-CA7C6EB66BE3}" srcOrd="1" destOrd="0" parTransId="{D08A1B11-EE95-4A2E-8501-53C56879AE19}" sibTransId="{FD9D7BFC-CE2D-40C8-8ABC-E63BCF8D81DE}"/>
    <dgm:cxn modelId="{DB299A2F-C1D8-4B4E-B18D-3BF0077CDE8A}" type="presOf" srcId="{5D493B3D-2CC6-40FC-864A-37F289BEF3D6}" destId="{5D0D03A0-B4DF-4828-A7DE-A8A9DF1C09FD}" srcOrd="0" destOrd="0" presId="urn:microsoft.com/office/officeart/2005/8/layout/radial3"/>
    <dgm:cxn modelId="{EE083D42-43A1-4A50-9FF0-2561B39D1156}" type="presOf" srcId="{C380CD18-EB92-46A5-8CFF-9ED667E2EA28}" destId="{3FD76EC8-9B4E-4D99-BAE4-6989E5E91C58}" srcOrd="0" destOrd="0" presId="urn:microsoft.com/office/officeart/2005/8/layout/radial3"/>
    <dgm:cxn modelId="{507E1C4D-37F8-4FA6-935E-93447E422278}" type="presOf" srcId="{90BC37B5-69DD-497A-AA08-580056D0CD37}" destId="{4C77C70C-77D6-491A-85A4-58D7B990CDDD}" srcOrd="0" destOrd="0" presId="urn:microsoft.com/office/officeart/2005/8/layout/radial3"/>
    <dgm:cxn modelId="{0FDC77CD-D442-4444-B1C2-C80E37A4D31F}" srcId="{E16A4920-1C67-4FA6-B6D1-62131838361A}" destId="{90BC37B5-69DD-497A-AA08-580056D0CD37}" srcOrd="0" destOrd="0" parTransId="{02B07A3C-5899-4232-BBD2-A49B7BC80C64}" sibTransId="{E39A029A-8DC2-41A3-AD79-F52B028FE6BB}"/>
    <dgm:cxn modelId="{0C0741E0-DF41-4739-B487-589482E5881C}" type="presOf" srcId="{5803296D-39A8-4225-9021-CA7C6EB66BE3}" destId="{1080AA9E-A048-4E0D-87AD-A1E0C86FCBE7}" srcOrd="0" destOrd="0" presId="urn:microsoft.com/office/officeart/2005/8/layout/radial3"/>
    <dgm:cxn modelId="{C532D1F6-251D-4BAE-85C7-F5A2D3D1575D}" srcId="{90BC37B5-69DD-497A-AA08-580056D0CD37}" destId="{C380CD18-EB92-46A5-8CFF-9ED667E2EA28}" srcOrd="2" destOrd="0" parTransId="{FB68BEF4-C906-4456-8DA9-A5F530733B9C}" sibTransId="{26273B42-66EC-4675-BD98-64FE4E47998C}"/>
    <dgm:cxn modelId="{DFDA1A99-CE4D-48B0-A5AF-F09F9D60D5CE}" type="presParOf" srcId="{2763527C-1C5E-429C-888D-35DF4F9156D9}" destId="{89D3A026-39A5-4DAE-99CC-47CEA39FE19B}" srcOrd="0" destOrd="0" presId="urn:microsoft.com/office/officeart/2005/8/layout/radial3"/>
    <dgm:cxn modelId="{163D29EC-CB49-4DE9-B23D-2E60DBC93A38}" type="presParOf" srcId="{89D3A026-39A5-4DAE-99CC-47CEA39FE19B}" destId="{4C77C70C-77D6-491A-85A4-58D7B990CDDD}" srcOrd="0" destOrd="0" presId="urn:microsoft.com/office/officeart/2005/8/layout/radial3"/>
    <dgm:cxn modelId="{1C1563F3-AE8C-4389-9965-6F6BADF8161A}" type="presParOf" srcId="{89D3A026-39A5-4DAE-99CC-47CEA39FE19B}" destId="{5D0D03A0-B4DF-4828-A7DE-A8A9DF1C09FD}" srcOrd="1" destOrd="0" presId="urn:microsoft.com/office/officeart/2005/8/layout/radial3"/>
    <dgm:cxn modelId="{5726DAAB-8C13-47B2-ACBA-7CAF7F1BAED7}" type="presParOf" srcId="{89D3A026-39A5-4DAE-99CC-47CEA39FE19B}" destId="{1080AA9E-A048-4E0D-87AD-A1E0C86FCBE7}" srcOrd="2" destOrd="0" presId="urn:microsoft.com/office/officeart/2005/8/layout/radial3"/>
    <dgm:cxn modelId="{71FE5D60-16AB-47C4-A805-2FDBF61BA8B2}" type="presParOf" srcId="{89D3A026-39A5-4DAE-99CC-47CEA39FE19B}" destId="{3FD76EC8-9B4E-4D99-BAE4-6989E5E91C58}" srcOrd="3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6A4920-1C67-4FA6-B6D1-62131838361A}" type="doc">
      <dgm:prSet loTypeId="urn:microsoft.com/office/officeart/2005/8/layout/radial3" loCatId="cycl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PE"/>
        </a:p>
      </dgm:t>
    </dgm:pt>
    <dgm:pt modelId="{90BC37B5-69DD-497A-AA08-580056D0CD37}">
      <dgm:prSet phldrT="[Texto]" custT="1"/>
      <dgm:spPr/>
      <dgm:t>
        <a:bodyPr/>
        <a:lstStyle/>
        <a:p>
          <a:pPr algn="ctr"/>
          <a:r>
            <a:rPr lang="es-ES" sz="2800" b="1" dirty="0"/>
            <a:t>COMPRENDER LOS LINEAMIENTOS DE INVESTIGACIÓN</a:t>
          </a:r>
          <a:endParaRPr lang="es-PE" sz="2800" b="1" i="1" dirty="0"/>
        </a:p>
      </dgm:t>
    </dgm:pt>
    <dgm:pt modelId="{02B07A3C-5899-4232-BBD2-A49B7BC80C64}" type="parTrans" cxnId="{0FDC77CD-D442-4444-B1C2-C80E37A4D31F}">
      <dgm:prSet/>
      <dgm:spPr/>
      <dgm:t>
        <a:bodyPr/>
        <a:lstStyle/>
        <a:p>
          <a:endParaRPr lang="es-PE"/>
        </a:p>
      </dgm:t>
    </dgm:pt>
    <dgm:pt modelId="{E39A029A-8DC2-41A3-AD79-F52B028FE6BB}" type="sibTrans" cxnId="{0FDC77CD-D442-4444-B1C2-C80E37A4D31F}">
      <dgm:prSet/>
      <dgm:spPr/>
      <dgm:t>
        <a:bodyPr/>
        <a:lstStyle/>
        <a:p>
          <a:endParaRPr lang="es-PE"/>
        </a:p>
      </dgm:t>
    </dgm:pt>
    <dgm:pt modelId="{5803296D-39A8-4225-9021-CA7C6EB66BE3}">
      <dgm:prSet phldrT="[Texto]" custT="1"/>
      <dgm:spPr/>
      <dgm:t>
        <a:bodyPr/>
        <a:lstStyle/>
        <a:p>
          <a:r>
            <a:rPr lang="es-ES" sz="2000" b="1" dirty="0"/>
            <a:t>APLICAR MODELOS DE BUENAS PRÁCTICAS</a:t>
          </a:r>
          <a:endParaRPr lang="es-PE" sz="2000" b="1" dirty="0"/>
        </a:p>
      </dgm:t>
    </dgm:pt>
    <dgm:pt modelId="{D08A1B11-EE95-4A2E-8501-53C56879AE19}" type="parTrans" cxnId="{7F78742B-6F36-4EEC-A22F-E76EFEC5DE4A}">
      <dgm:prSet/>
      <dgm:spPr/>
      <dgm:t>
        <a:bodyPr/>
        <a:lstStyle/>
        <a:p>
          <a:endParaRPr lang="es-PE"/>
        </a:p>
      </dgm:t>
    </dgm:pt>
    <dgm:pt modelId="{FD9D7BFC-CE2D-40C8-8ABC-E63BCF8D81DE}" type="sibTrans" cxnId="{7F78742B-6F36-4EEC-A22F-E76EFEC5DE4A}">
      <dgm:prSet/>
      <dgm:spPr/>
      <dgm:t>
        <a:bodyPr/>
        <a:lstStyle/>
        <a:p>
          <a:endParaRPr lang="es-PE"/>
        </a:p>
      </dgm:t>
    </dgm:pt>
    <dgm:pt modelId="{C380CD18-EB92-46A5-8CFF-9ED667E2EA28}">
      <dgm:prSet phldrT="[Texto]" custT="1"/>
      <dgm:spPr/>
      <dgm:t>
        <a:bodyPr/>
        <a:lstStyle/>
        <a:p>
          <a:r>
            <a:rPr lang="es-ES" sz="2000" b="1" dirty="0"/>
            <a:t>RESOLVER PROBLEMAS DE LA SOCIEDAD</a:t>
          </a:r>
          <a:endParaRPr lang="es-PE" sz="2000" b="1" dirty="0"/>
        </a:p>
      </dgm:t>
    </dgm:pt>
    <dgm:pt modelId="{FB68BEF4-C906-4456-8DA9-A5F530733B9C}" type="parTrans" cxnId="{C532D1F6-251D-4BAE-85C7-F5A2D3D1575D}">
      <dgm:prSet/>
      <dgm:spPr/>
      <dgm:t>
        <a:bodyPr/>
        <a:lstStyle/>
        <a:p>
          <a:endParaRPr lang="es-PE"/>
        </a:p>
      </dgm:t>
    </dgm:pt>
    <dgm:pt modelId="{26273B42-66EC-4675-BD98-64FE4E47998C}" type="sibTrans" cxnId="{C532D1F6-251D-4BAE-85C7-F5A2D3D1575D}">
      <dgm:prSet/>
      <dgm:spPr/>
      <dgm:t>
        <a:bodyPr/>
        <a:lstStyle/>
        <a:p>
          <a:endParaRPr lang="es-PE"/>
        </a:p>
      </dgm:t>
    </dgm:pt>
    <dgm:pt modelId="{5D493B3D-2CC6-40FC-864A-37F289BEF3D6}">
      <dgm:prSet custT="1"/>
      <dgm:spPr/>
      <dgm:t>
        <a:bodyPr/>
        <a:lstStyle/>
        <a:p>
          <a:r>
            <a:rPr lang="es-ES" sz="2000" b="1" dirty="0"/>
            <a:t>CONTEXTUALIZAR</a:t>
          </a:r>
          <a:endParaRPr lang="es-ES" sz="1800" b="1" dirty="0"/>
        </a:p>
      </dgm:t>
    </dgm:pt>
    <dgm:pt modelId="{E7BB6BAC-4647-4CCE-8C8B-26439AAA6F45}" type="parTrans" cxnId="{2C068201-DAB3-46CD-B2AE-529C43AEE7C1}">
      <dgm:prSet/>
      <dgm:spPr/>
      <dgm:t>
        <a:bodyPr/>
        <a:lstStyle/>
        <a:p>
          <a:endParaRPr lang="es-PE"/>
        </a:p>
      </dgm:t>
    </dgm:pt>
    <dgm:pt modelId="{415D9F11-622B-49E8-81D1-79BD686CC598}" type="sibTrans" cxnId="{2C068201-DAB3-46CD-B2AE-529C43AEE7C1}">
      <dgm:prSet/>
      <dgm:spPr/>
      <dgm:t>
        <a:bodyPr/>
        <a:lstStyle/>
        <a:p>
          <a:endParaRPr lang="es-PE"/>
        </a:p>
      </dgm:t>
    </dgm:pt>
    <dgm:pt modelId="{2763527C-1C5E-429C-888D-35DF4F9156D9}" type="pres">
      <dgm:prSet presAssocID="{E16A4920-1C67-4FA6-B6D1-62131838361A}" presName="composite" presStyleCnt="0">
        <dgm:presLayoutVars>
          <dgm:chMax val="1"/>
          <dgm:dir/>
          <dgm:resizeHandles val="exact"/>
        </dgm:presLayoutVars>
      </dgm:prSet>
      <dgm:spPr/>
    </dgm:pt>
    <dgm:pt modelId="{89D3A026-39A5-4DAE-99CC-47CEA39FE19B}" type="pres">
      <dgm:prSet presAssocID="{E16A4920-1C67-4FA6-B6D1-62131838361A}" presName="radial" presStyleCnt="0">
        <dgm:presLayoutVars>
          <dgm:animLvl val="ctr"/>
        </dgm:presLayoutVars>
      </dgm:prSet>
      <dgm:spPr/>
    </dgm:pt>
    <dgm:pt modelId="{4C77C70C-77D6-491A-85A4-58D7B990CDDD}" type="pres">
      <dgm:prSet presAssocID="{90BC37B5-69DD-497A-AA08-580056D0CD37}" presName="centerShape" presStyleLbl="vennNode1" presStyleIdx="0" presStyleCnt="4" custScaleX="152820" custScaleY="103183" custLinFactNeighborX="176"/>
      <dgm:spPr/>
    </dgm:pt>
    <dgm:pt modelId="{5D0D03A0-B4DF-4828-A7DE-A8A9DF1C09FD}" type="pres">
      <dgm:prSet presAssocID="{5D493B3D-2CC6-40FC-864A-37F289BEF3D6}" presName="node" presStyleLbl="vennNode1" presStyleIdx="1" presStyleCnt="4" custScaleX="190553" custScaleY="106696" custRadScaleRad="88964" custRadScaleInc="717">
        <dgm:presLayoutVars>
          <dgm:bulletEnabled val="1"/>
        </dgm:presLayoutVars>
      </dgm:prSet>
      <dgm:spPr/>
    </dgm:pt>
    <dgm:pt modelId="{1080AA9E-A048-4E0D-87AD-A1E0C86FCBE7}" type="pres">
      <dgm:prSet presAssocID="{5803296D-39A8-4225-9021-CA7C6EB66BE3}" presName="node" presStyleLbl="vennNode1" presStyleIdx="2" presStyleCnt="4" custScaleX="144438" custRadScaleRad="141378" custRadScaleInc="-23992">
        <dgm:presLayoutVars>
          <dgm:bulletEnabled val="1"/>
        </dgm:presLayoutVars>
      </dgm:prSet>
      <dgm:spPr/>
    </dgm:pt>
    <dgm:pt modelId="{3FD76EC8-9B4E-4D99-BAE4-6989E5E91C58}" type="pres">
      <dgm:prSet presAssocID="{C380CD18-EB92-46A5-8CFF-9ED667E2EA28}" presName="node" presStyleLbl="vennNode1" presStyleIdx="3" presStyleCnt="4" custScaleX="143552" custScaleY="110741" custRadScaleRad="154003" custRadScaleInc="21805">
        <dgm:presLayoutVars>
          <dgm:bulletEnabled val="1"/>
        </dgm:presLayoutVars>
      </dgm:prSet>
      <dgm:spPr/>
    </dgm:pt>
  </dgm:ptLst>
  <dgm:cxnLst>
    <dgm:cxn modelId="{2C068201-DAB3-46CD-B2AE-529C43AEE7C1}" srcId="{90BC37B5-69DD-497A-AA08-580056D0CD37}" destId="{5D493B3D-2CC6-40FC-864A-37F289BEF3D6}" srcOrd="0" destOrd="0" parTransId="{E7BB6BAC-4647-4CCE-8C8B-26439AAA6F45}" sibTransId="{415D9F11-622B-49E8-81D1-79BD686CC598}"/>
    <dgm:cxn modelId="{63245C05-6696-49C7-A281-1F96649E4141}" type="presOf" srcId="{5D493B3D-2CC6-40FC-864A-37F289BEF3D6}" destId="{5D0D03A0-B4DF-4828-A7DE-A8A9DF1C09FD}" srcOrd="0" destOrd="0" presId="urn:microsoft.com/office/officeart/2005/8/layout/radial3"/>
    <dgm:cxn modelId="{7F78742B-6F36-4EEC-A22F-E76EFEC5DE4A}" srcId="{90BC37B5-69DD-497A-AA08-580056D0CD37}" destId="{5803296D-39A8-4225-9021-CA7C6EB66BE3}" srcOrd="1" destOrd="0" parTransId="{D08A1B11-EE95-4A2E-8501-53C56879AE19}" sibTransId="{FD9D7BFC-CE2D-40C8-8ABC-E63BCF8D81DE}"/>
    <dgm:cxn modelId="{4111B335-6FEE-4A72-B5CA-89DCA3B44C7B}" type="presOf" srcId="{5803296D-39A8-4225-9021-CA7C6EB66BE3}" destId="{1080AA9E-A048-4E0D-87AD-A1E0C86FCBE7}" srcOrd="0" destOrd="0" presId="urn:microsoft.com/office/officeart/2005/8/layout/radial3"/>
    <dgm:cxn modelId="{D9972D9C-E056-4513-B805-36D11188118A}" type="presOf" srcId="{C380CD18-EB92-46A5-8CFF-9ED667E2EA28}" destId="{3FD76EC8-9B4E-4D99-BAE4-6989E5E91C58}" srcOrd="0" destOrd="0" presId="urn:microsoft.com/office/officeart/2005/8/layout/radial3"/>
    <dgm:cxn modelId="{19F342AC-602A-428A-B446-AFDEE92E6B7E}" type="presOf" srcId="{90BC37B5-69DD-497A-AA08-580056D0CD37}" destId="{4C77C70C-77D6-491A-85A4-58D7B990CDDD}" srcOrd="0" destOrd="0" presId="urn:microsoft.com/office/officeart/2005/8/layout/radial3"/>
    <dgm:cxn modelId="{0FDC77CD-D442-4444-B1C2-C80E37A4D31F}" srcId="{E16A4920-1C67-4FA6-B6D1-62131838361A}" destId="{90BC37B5-69DD-497A-AA08-580056D0CD37}" srcOrd="0" destOrd="0" parTransId="{02B07A3C-5899-4232-BBD2-A49B7BC80C64}" sibTransId="{E39A029A-8DC2-41A3-AD79-F52B028FE6BB}"/>
    <dgm:cxn modelId="{A63595E8-A395-4D4B-BC5D-9C2E5B4CA413}" type="presOf" srcId="{E16A4920-1C67-4FA6-B6D1-62131838361A}" destId="{2763527C-1C5E-429C-888D-35DF4F9156D9}" srcOrd="0" destOrd="0" presId="urn:microsoft.com/office/officeart/2005/8/layout/radial3"/>
    <dgm:cxn modelId="{C532D1F6-251D-4BAE-85C7-F5A2D3D1575D}" srcId="{90BC37B5-69DD-497A-AA08-580056D0CD37}" destId="{C380CD18-EB92-46A5-8CFF-9ED667E2EA28}" srcOrd="2" destOrd="0" parTransId="{FB68BEF4-C906-4456-8DA9-A5F530733B9C}" sibTransId="{26273B42-66EC-4675-BD98-64FE4E47998C}"/>
    <dgm:cxn modelId="{DF5C4E7A-FA0B-4EE8-A077-11DD192EACC0}" type="presParOf" srcId="{2763527C-1C5E-429C-888D-35DF4F9156D9}" destId="{89D3A026-39A5-4DAE-99CC-47CEA39FE19B}" srcOrd="0" destOrd="0" presId="urn:microsoft.com/office/officeart/2005/8/layout/radial3"/>
    <dgm:cxn modelId="{6C245A40-36D1-44AE-BF17-E7C7AEAE9F4C}" type="presParOf" srcId="{89D3A026-39A5-4DAE-99CC-47CEA39FE19B}" destId="{4C77C70C-77D6-491A-85A4-58D7B990CDDD}" srcOrd="0" destOrd="0" presId="urn:microsoft.com/office/officeart/2005/8/layout/radial3"/>
    <dgm:cxn modelId="{49A76518-C87E-4C70-AE31-44169CFE90A7}" type="presParOf" srcId="{89D3A026-39A5-4DAE-99CC-47CEA39FE19B}" destId="{5D0D03A0-B4DF-4828-A7DE-A8A9DF1C09FD}" srcOrd="1" destOrd="0" presId="urn:microsoft.com/office/officeart/2005/8/layout/radial3"/>
    <dgm:cxn modelId="{1B7FD759-5709-4802-B85E-19293CAE681B}" type="presParOf" srcId="{89D3A026-39A5-4DAE-99CC-47CEA39FE19B}" destId="{1080AA9E-A048-4E0D-87AD-A1E0C86FCBE7}" srcOrd="2" destOrd="0" presId="urn:microsoft.com/office/officeart/2005/8/layout/radial3"/>
    <dgm:cxn modelId="{E223DF2D-8B3D-439F-B308-2657B12D0FE2}" type="presParOf" srcId="{89D3A026-39A5-4DAE-99CC-47CEA39FE19B}" destId="{3FD76EC8-9B4E-4D99-BAE4-6989E5E91C58}" srcOrd="3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7C70C-77D6-491A-85A4-58D7B990CDDD}">
      <dsp:nvSpPr>
        <dsp:cNvPr id="0" name=""/>
        <dsp:cNvSpPr/>
      </dsp:nvSpPr>
      <dsp:spPr>
        <a:xfrm>
          <a:off x="1808803" y="1227257"/>
          <a:ext cx="4547536" cy="3070464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Proyecto de Investigación</a:t>
          </a:r>
          <a:endParaRPr lang="es-PE" sz="2800" b="1" i="1" kern="1200" dirty="0"/>
        </a:p>
      </dsp:txBody>
      <dsp:txXfrm>
        <a:off x="2474774" y="1676916"/>
        <a:ext cx="3215594" cy="2171146"/>
      </dsp:txXfrm>
    </dsp:sp>
    <dsp:sp modelId="{5D0D03A0-B4DF-4828-A7DE-A8A9DF1C09FD}">
      <dsp:nvSpPr>
        <dsp:cNvPr id="0" name=""/>
        <dsp:cNvSpPr/>
      </dsp:nvSpPr>
      <dsp:spPr>
        <a:xfrm>
          <a:off x="3360956" y="629616"/>
          <a:ext cx="2831735" cy="1094003"/>
        </a:xfrm>
        <a:prstGeom prst="ellipse">
          <a:avLst/>
        </a:prstGeom>
        <a:solidFill>
          <a:schemeClr val="accent4">
            <a:alpha val="50000"/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En BENEFICIO DE LA SOCIEDAD</a:t>
          </a:r>
          <a:endParaRPr lang="es-ES" sz="1800" b="1" kern="1200" dirty="0"/>
        </a:p>
      </dsp:txBody>
      <dsp:txXfrm>
        <a:off x="3775654" y="789829"/>
        <a:ext cx="2002339" cy="773577"/>
      </dsp:txXfrm>
    </dsp:sp>
    <dsp:sp modelId="{1080AA9E-A048-4E0D-87AD-A1E0C86FCBE7}">
      <dsp:nvSpPr>
        <dsp:cNvPr id="0" name=""/>
        <dsp:cNvSpPr/>
      </dsp:nvSpPr>
      <dsp:spPr>
        <a:xfrm>
          <a:off x="5724473" y="1955853"/>
          <a:ext cx="2718210" cy="1668962"/>
        </a:xfrm>
        <a:prstGeom prst="ellipse">
          <a:avLst/>
        </a:prstGeom>
        <a:solidFill>
          <a:schemeClr val="accent4">
            <a:alpha val="50000"/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NATURALEZA «PROPOSITIVA» COMO </a:t>
          </a:r>
          <a:r>
            <a:rPr lang="es-ES" sz="1600" b="1" kern="1200" dirty="0"/>
            <a:t>RESOLVER/REDUCIR</a:t>
          </a:r>
          <a:r>
            <a:rPr lang="es-ES" sz="1800" b="1" kern="1200" dirty="0"/>
            <a:t> EL PROBLEMA</a:t>
          </a:r>
          <a:endParaRPr lang="es-PE" sz="1800" b="1" kern="1200" dirty="0"/>
        </a:p>
      </dsp:txBody>
      <dsp:txXfrm>
        <a:off x="6122546" y="2200267"/>
        <a:ext cx="1922064" cy="1180134"/>
      </dsp:txXfrm>
    </dsp:sp>
    <dsp:sp modelId="{3FD76EC8-9B4E-4D99-BAE4-6989E5E91C58}">
      <dsp:nvSpPr>
        <dsp:cNvPr id="0" name=""/>
        <dsp:cNvSpPr/>
      </dsp:nvSpPr>
      <dsp:spPr>
        <a:xfrm>
          <a:off x="32993" y="2138008"/>
          <a:ext cx="2135872" cy="1647685"/>
        </a:xfrm>
        <a:prstGeom prst="ellipse">
          <a:avLst/>
        </a:prstGeom>
        <a:solidFill>
          <a:schemeClr val="accent4">
            <a:alpha val="50000"/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Punto de Inicio: ESTUDIO DE UN PROBLEMA</a:t>
          </a:r>
          <a:endParaRPr lang="es-PE" sz="2000" b="1" kern="1200" dirty="0"/>
        </a:p>
      </dsp:txBody>
      <dsp:txXfrm>
        <a:off x="345784" y="2379306"/>
        <a:ext cx="1510290" cy="1165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7C70C-77D6-491A-85A4-58D7B990CDDD}">
      <dsp:nvSpPr>
        <dsp:cNvPr id="0" name=""/>
        <dsp:cNvSpPr/>
      </dsp:nvSpPr>
      <dsp:spPr>
        <a:xfrm>
          <a:off x="1951092" y="1355951"/>
          <a:ext cx="4547536" cy="3070464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COMPRENDER LOS LINEAMIENTOS DE INVESTIGACIÓN</a:t>
          </a:r>
          <a:endParaRPr lang="es-PE" sz="2800" b="1" i="1" kern="1200" dirty="0"/>
        </a:p>
      </dsp:txBody>
      <dsp:txXfrm>
        <a:off x="2617063" y="1805610"/>
        <a:ext cx="3215594" cy="2171146"/>
      </dsp:txXfrm>
    </dsp:sp>
    <dsp:sp modelId="{5D0D03A0-B4DF-4828-A7DE-A8A9DF1C09FD}">
      <dsp:nvSpPr>
        <dsp:cNvPr id="0" name=""/>
        <dsp:cNvSpPr/>
      </dsp:nvSpPr>
      <dsp:spPr>
        <a:xfrm>
          <a:off x="2826315" y="375282"/>
          <a:ext cx="2835187" cy="1587501"/>
        </a:xfrm>
        <a:prstGeom prst="ellipse">
          <a:avLst/>
        </a:prstGeom>
        <a:solidFill>
          <a:schemeClr val="accent4">
            <a:alpha val="50000"/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CONTEXTUALIZAR</a:t>
          </a:r>
          <a:endParaRPr lang="es-ES" sz="1800" b="1" kern="1200" dirty="0"/>
        </a:p>
      </dsp:txBody>
      <dsp:txXfrm>
        <a:off x="3241519" y="607766"/>
        <a:ext cx="2004779" cy="1122533"/>
      </dsp:txXfrm>
    </dsp:sp>
    <dsp:sp modelId="{1080AA9E-A048-4E0D-87AD-A1E0C86FCBE7}">
      <dsp:nvSpPr>
        <dsp:cNvPr id="0" name=""/>
        <dsp:cNvSpPr/>
      </dsp:nvSpPr>
      <dsp:spPr>
        <a:xfrm>
          <a:off x="5879989" y="2205026"/>
          <a:ext cx="2149054" cy="1487873"/>
        </a:xfrm>
        <a:prstGeom prst="ellipse">
          <a:avLst/>
        </a:prstGeom>
        <a:solidFill>
          <a:schemeClr val="accent4">
            <a:alpha val="50000"/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APLICAR MODELOS DE BUENAS PRÁCTICAS</a:t>
          </a:r>
          <a:endParaRPr lang="es-PE" sz="2000" b="1" kern="1200" dirty="0"/>
        </a:p>
      </dsp:txBody>
      <dsp:txXfrm>
        <a:off x="6194711" y="2422920"/>
        <a:ext cx="1519610" cy="1052085"/>
      </dsp:txXfrm>
    </dsp:sp>
    <dsp:sp modelId="{3FD76EC8-9B4E-4D99-BAE4-6989E5E91C58}">
      <dsp:nvSpPr>
        <dsp:cNvPr id="0" name=""/>
        <dsp:cNvSpPr/>
      </dsp:nvSpPr>
      <dsp:spPr>
        <a:xfrm>
          <a:off x="175282" y="2266701"/>
          <a:ext cx="2135872" cy="1647685"/>
        </a:xfrm>
        <a:prstGeom prst="ellipse">
          <a:avLst/>
        </a:prstGeom>
        <a:solidFill>
          <a:schemeClr val="accent4">
            <a:alpha val="50000"/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RESOLVER PROBLEMAS DE LA SOCIEDAD</a:t>
          </a:r>
          <a:endParaRPr lang="es-PE" sz="2000" b="1" kern="1200" dirty="0"/>
        </a:p>
      </dsp:txBody>
      <dsp:txXfrm>
        <a:off x="488073" y="2507999"/>
        <a:ext cx="1510290" cy="1165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schemeClr val="bg1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111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schemeClr val="bg1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915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/>
              <a:pPr/>
              <a:t>12/11/2024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schemeClr val="bg1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640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/>
              <a:pPr/>
              <a:t>12/11/2024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schemeClr val="bg1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072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/>
              <a:pPr/>
              <a:t>12/11/2024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schemeClr val="bg1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501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/>
              <a:pPr/>
              <a:t>12/11/2024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256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/>
              <a:pPr/>
              <a:t>12/11/2024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221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/>
              <a:pPr/>
              <a:t>12/11/2024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63732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/>
              <a:pPr/>
              <a:t>12/11/2024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25048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/>
              <a:pPr/>
              <a:t>12/11/2024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2893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/>
              <a:pPr/>
              <a:t>12/11/2024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5719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3274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693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034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006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111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0277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836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092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9464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824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5320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50085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5557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66741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5029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660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213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0628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4957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2620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6091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2300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6735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7888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9488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46281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8183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5340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1315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203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1319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3912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846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2318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49099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7790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88846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51758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0846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8641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3486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2019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0999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37807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44732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94461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7655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2889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270431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9941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06967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34536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22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6286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7505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4498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5449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89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36582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63717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05588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91786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86106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85475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8592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1220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19977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36990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682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60773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93186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95813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71264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65061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32853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41930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06298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255746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54607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89430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9943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64863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14647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43502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3586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98174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14937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75275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75128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01046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29909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09474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34301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96838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09940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47491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57760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85518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62933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1093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62237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73554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91120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9753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117534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61820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54232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22293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21423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1795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338900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4381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32152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08308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60417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17269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21497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65931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81948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5396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98187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26368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847093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12617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934262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587660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317741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92150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64336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44860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94774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21185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523158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11349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73041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70125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82093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37378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398135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91229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178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69483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22966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339044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625883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16405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27701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10408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276315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063800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701299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679322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996910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951206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7200785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0575769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584500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449638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869043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974969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94630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76548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918380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555662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047569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973631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810923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81529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404661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352905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811842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117510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314869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878848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143593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461484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598117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88533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211108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9191582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273935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52983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205389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941344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325341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312839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9991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lang="es-ES" sz="3200" b="1" kern="1200" cap="all" smtClean="0">
                <a:ln w="9000" cmpd="sng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grpSp>
        <p:nvGrpSpPr>
          <p:cNvPr id="6" name="Grupo 5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4" name="Rectángulo 3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5" name="CuadroTexto 4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7755673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ángulo 3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5" name="Grupo 4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6" name="Rectángulo 5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7" name="CuadroTexto 6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307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072804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ángulo 6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8" name="Grupo 7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9" name="Rectángulo 8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0" name="CuadroTexto 9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1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184146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ángulo 7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9" name="Grupo 8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0" name="Rectángulo 9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1" name="CuadroTexto 10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2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49364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ángulo 9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grpSp>
        <p:nvGrpSpPr>
          <p:cNvPr id="11" name="Grupo 10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12" name="Rectángulo 11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13" name="CuadroTexto 12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4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572389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ángulo 5"/>
          <p:cNvSpPr/>
          <p:nvPr userDrawn="1"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7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2625"/>
            <a:ext cx="1104443" cy="119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044059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582059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580573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645465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736394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54938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54301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624110"/>
            <a:ext cx="6683765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2133600"/>
            <a:ext cx="6686550" cy="3777622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60201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058750"/>
            <a:ext cx="668654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530129"/>
            <a:ext cx="668654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026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2133600"/>
            <a:ext cx="3235398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2126222"/>
            <a:ext cx="3235398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787783"/>
            <a:ext cx="584825" cy="365125"/>
          </a:xfrm>
        </p:spPr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42118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972703"/>
            <a:ext cx="299454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2548966"/>
            <a:ext cx="3257170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969475"/>
            <a:ext cx="29992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2545738"/>
            <a:ext cx="3254006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787783"/>
            <a:ext cx="584825" cy="365125"/>
          </a:xfrm>
        </p:spPr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92078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03358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33902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46088"/>
            <a:ext cx="26288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446089"/>
            <a:ext cx="38862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598613"/>
            <a:ext cx="26288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00612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800600"/>
            <a:ext cx="668655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634965"/>
            <a:ext cx="668655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367338"/>
            <a:ext cx="668655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3690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609600"/>
            <a:ext cx="668654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4354046"/>
            <a:ext cx="668654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76846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609600"/>
            <a:ext cx="6295445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3505200"/>
            <a:ext cx="5652416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4354046"/>
            <a:ext cx="668654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50739" y="64800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A53010"/>
                </a:solidFill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90530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A53010"/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0725841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438401"/>
            <a:ext cx="668655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559095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609600"/>
            <a:ext cx="6295445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4343400"/>
            <a:ext cx="66865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50739" y="64800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A53010"/>
                </a:solidFill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90530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A53010"/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161989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627407"/>
            <a:ext cx="668654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4343400"/>
            <a:ext cx="66865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83996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27303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627406"/>
            <a:ext cx="16557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627406"/>
            <a:ext cx="4857750" cy="528381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79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2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image" Target="../media/image2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image" Target="../media/image2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Relationship Id="rId14" Type="http://schemas.openxmlformats.org/officeDocument/2006/relationships/image" Target="../media/image2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5.xml"/><Relationship Id="rId14" Type="http://schemas.openxmlformats.org/officeDocument/2006/relationships/image" Target="../media/image2.pn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189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0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Relationship Id="rId14" Type="http://schemas.openxmlformats.org/officeDocument/2006/relationships/image" Target="../media/image2.pn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7.xml"/><Relationship Id="rId13" Type="http://schemas.openxmlformats.org/officeDocument/2006/relationships/slideLayout" Target="../slideLayouts/slideLayout222.xml"/><Relationship Id="rId3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6.xml"/><Relationship Id="rId12" Type="http://schemas.openxmlformats.org/officeDocument/2006/relationships/slideLayout" Target="../slideLayouts/slideLayout221.xml"/><Relationship Id="rId17" Type="http://schemas.openxmlformats.org/officeDocument/2006/relationships/theme" Target="../theme/theme20.xml"/><Relationship Id="rId2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25.xml"/><Relationship Id="rId1" Type="http://schemas.openxmlformats.org/officeDocument/2006/relationships/slideLayout" Target="../slideLayouts/slideLayout210.xml"/><Relationship Id="rId6" Type="http://schemas.openxmlformats.org/officeDocument/2006/relationships/slideLayout" Target="../slideLayouts/slideLayout215.xml"/><Relationship Id="rId11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4.xml"/><Relationship Id="rId15" Type="http://schemas.openxmlformats.org/officeDocument/2006/relationships/slideLayout" Target="../slideLayouts/slideLayout224.xml"/><Relationship Id="rId10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3.xml"/><Relationship Id="rId9" Type="http://schemas.openxmlformats.org/officeDocument/2006/relationships/slideLayout" Target="../slideLayouts/slideLayout218.xml"/><Relationship Id="rId14" Type="http://schemas.openxmlformats.org/officeDocument/2006/relationships/slideLayout" Target="../slideLayouts/slideLayout2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/>
              <a:pPr/>
              <a:t>12/11/2024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schemeClr val="bg1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99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42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18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9108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502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73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 defTabSz="457200"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 defTabSz="457200"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58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77EF03AB-0C0F-44C8-AAF4-20A8DECF688A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 defTabSz="457200"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9816ADB9-CE05-43C3-90C7-707BB2318AB5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 defTabSz="457200"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08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912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408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75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79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949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30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118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517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935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00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72244-E72D-464B-9D59-1A0CB5DA1535}" type="datetimeFigureOut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12/11/2024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3D002-230F-4767-89CF-4B4DE09C3863}" type="slidenum">
              <a:rPr lang="es-PE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P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upo 6"/>
          <p:cNvGrpSpPr/>
          <p:nvPr userDrawn="1"/>
        </p:nvGrpSpPr>
        <p:grpSpPr>
          <a:xfrm>
            <a:off x="0" y="6498505"/>
            <a:ext cx="9144000" cy="369332"/>
            <a:chOff x="0" y="6498505"/>
            <a:chExt cx="9144000" cy="369332"/>
          </a:xfrm>
        </p:grpSpPr>
        <p:sp>
          <p:nvSpPr>
            <p:cNvPr id="8" name="Rectángulo 7"/>
            <p:cNvSpPr/>
            <p:nvPr userDrawn="1"/>
          </p:nvSpPr>
          <p:spPr>
            <a:xfrm>
              <a:off x="0" y="6525344"/>
              <a:ext cx="9144000" cy="3326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prstClr val="white"/>
                </a:solidFill>
              </a:endParaRPr>
            </a:p>
          </p:txBody>
        </p:sp>
        <p:sp>
          <p:nvSpPr>
            <p:cNvPr id="9" name="CuadroTexto 8"/>
            <p:cNvSpPr txBox="1"/>
            <p:nvPr userDrawn="1"/>
          </p:nvSpPr>
          <p:spPr>
            <a:xfrm>
              <a:off x="173254" y="6498505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dirty="0">
                  <a:solidFill>
                    <a:prstClr val="white"/>
                  </a:solidFill>
                </a:rPr>
                <a:t>Dr. Walter Barrutia F.</a:t>
              </a:r>
            </a:p>
          </p:txBody>
        </p:sp>
      </p:grpSp>
      <p:pic>
        <p:nvPicPr>
          <p:cNvPr id="1026" name="Picture 2" descr="http://2.bp.blogspot.com/_-QlIk7jKL_c/TD98q0WBE-I/AAAAAAAAAOk/bk6kxMyN4qA/s1600/LOGO+DE+COLORES.pn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5238"/>
            <a:ext cx="941279" cy="10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21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138637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786"/>
            <a:ext cx="1767506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624110"/>
            <a:ext cx="6683765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2133600"/>
            <a:ext cx="668655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8EB46-23C4-4AEB-BA19-639F1EB1BE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11/12/2024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787783"/>
            <a:ext cx="584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4541197-010D-432F-98AB-487CD5B78F8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2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3" r:id="rId1"/>
    <p:sldLayoutId id="2147484334" r:id="rId2"/>
    <p:sldLayoutId id="2147484335" r:id="rId3"/>
    <p:sldLayoutId id="2147484336" r:id="rId4"/>
    <p:sldLayoutId id="2147484337" r:id="rId5"/>
    <p:sldLayoutId id="2147484338" r:id="rId6"/>
    <p:sldLayoutId id="2147484339" r:id="rId7"/>
    <p:sldLayoutId id="2147484340" r:id="rId8"/>
    <p:sldLayoutId id="2147484341" r:id="rId9"/>
    <p:sldLayoutId id="2147484342" r:id="rId10"/>
    <p:sldLayoutId id="2147484343" r:id="rId11"/>
    <p:sldLayoutId id="2147484344" r:id="rId12"/>
    <p:sldLayoutId id="2147484345" r:id="rId13"/>
    <p:sldLayoutId id="2147484346" r:id="rId14"/>
    <p:sldLayoutId id="2147484347" r:id="rId15"/>
    <p:sldLayoutId id="21474843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0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0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3 Marcador de pie de página"/>
          <p:cNvSpPr txBox="1">
            <a:spLocks/>
          </p:cNvSpPr>
          <p:nvPr/>
        </p:nvSpPr>
        <p:spPr>
          <a:xfrm>
            <a:off x="0" y="6525345"/>
            <a:ext cx="9144000" cy="332656"/>
          </a:xfrm>
          <a:prstGeom prst="rect">
            <a:avLst/>
          </a:prstGeom>
          <a:solidFill>
            <a:srgbClr val="24246C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REINGENIERÍA DE PROCESOS				                                            Dr. Guillermo Mamani </a:t>
            </a:r>
            <a:r>
              <a:rPr kumimoji="0" lang="es-PE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Apaza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3 Marcador de pie de página"/>
          <p:cNvSpPr txBox="1">
            <a:spLocks/>
          </p:cNvSpPr>
          <p:nvPr/>
        </p:nvSpPr>
        <p:spPr>
          <a:xfrm>
            <a:off x="-8325" y="-33826"/>
            <a:ext cx="9188837" cy="1446602"/>
          </a:xfrm>
          <a:prstGeom prst="rect">
            <a:avLst/>
          </a:prstGeom>
          <a:solidFill>
            <a:srgbClr val="24246C"/>
          </a:solidFill>
          <a:ln>
            <a:noFill/>
          </a:ln>
        </p:spPr>
        <p:txBody>
          <a:bodyPr vert="horz" lIns="91440" tIns="45720" rIns="91440" bIns="45720" rtlCol="0" anchor="ctr"/>
          <a:lstStyle>
            <a:defPPr>
              <a:defRPr lang="es-PE"/>
            </a:defPPr>
            <a:lvl1pPr marL="0" algn="ctr" defTabSz="9144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Marcador de contenido 1"/>
          <p:cNvSpPr txBox="1">
            <a:spLocks/>
          </p:cNvSpPr>
          <p:nvPr/>
        </p:nvSpPr>
        <p:spPr>
          <a:xfrm>
            <a:off x="-396552" y="116632"/>
            <a:ext cx="4968552" cy="1416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Marcador de contenido 1"/>
          <p:cNvSpPr txBox="1">
            <a:spLocks/>
          </p:cNvSpPr>
          <p:nvPr/>
        </p:nvSpPr>
        <p:spPr>
          <a:xfrm>
            <a:off x="1691680" y="2708337"/>
            <a:ext cx="5222404" cy="1656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CONCEPTOS AXIOLOGICOS Y METODOLÓGICOS  DE LA INVESTIGACIÓN CIENTIFICA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" y="6525345"/>
            <a:ext cx="9144000" cy="332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Marcador de contenido 1"/>
          <p:cNvSpPr txBox="1">
            <a:spLocks/>
          </p:cNvSpPr>
          <p:nvPr/>
        </p:nvSpPr>
        <p:spPr>
          <a:xfrm>
            <a:off x="-8325" y="5661248"/>
            <a:ext cx="3956784" cy="14117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 Demi" panose="020E0802020502020306" pitchFamily="34" charset="0"/>
                <a:ea typeface="+mn-ea"/>
                <a:cs typeface="+mn-cs"/>
              </a:rPr>
              <a:t>Dr. Walter </a:t>
            </a:r>
            <a:r>
              <a:rPr kumimoji="0" 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 Demi" panose="020E0802020502020306" pitchFamily="34" charset="0"/>
                <a:ea typeface="+mn-ea"/>
                <a:cs typeface="+mn-cs"/>
              </a:rPr>
              <a:t>Barrutia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 Demi" panose="020E0802020502020306" pitchFamily="34" charset="0"/>
                <a:ea typeface="+mn-ea"/>
                <a:cs typeface="+mn-cs"/>
              </a:rPr>
              <a:t> </a:t>
            </a:r>
            <a:r>
              <a:rPr kumimoji="0" 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 Demi" panose="020E0802020502020306" pitchFamily="34" charset="0"/>
                <a:ea typeface="+mn-ea"/>
                <a:cs typeface="+mn-cs"/>
              </a:rPr>
              <a:t>Feijóo</a:t>
            </a: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 Demi" panose="020E0802020502020306" pitchFamily="34" charset="0"/>
                <a:ea typeface="+mn-ea"/>
                <a:cs typeface="+mn-cs"/>
              </a:rPr>
              <a:t>wbarrutiaf@hotmail.com  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lin Sans FB Demi" panose="020E0802020502020306" pitchFamily="34" charset="0"/>
                <a:ea typeface="+mn-ea"/>
                <a:cs typeface="+mn-cs"/>
              </a:rPr>
              <a:t>19/09/2021</a:t>
            </a:r>
          </a:p>
        </p:txBody>
      </p:sp>
      <p:pic>
        <p:nvPicPr>
          <p:cNvPr id="10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712" y="548680"/>
            <a:ext cx="1196340" cy="1545541"/>
          </a:xfrm>
          <a:prstGeom prst="rect">
            <a:avLst/>
          </a:prstGeom>
        </p:spPr>
      </p:pic>
      <p:sp>
        <p:nvSpPr>
          <p:cNvPr id="11" name="2 Subtítulo"/>
          <p:cNvSpPr>
            <a:spLocks noGrp="1"/>
          </p:cNvSpPr>
          <p:nvPr>
            <p:ph type="subTitle" idx="1"/>
          </p:nvPr>
        </p:nvSpPr>
        <p:spPr>
          <a:xfrm>
            <a:off x="323528" y="3536429"/>
            <a:ext cx="8573968" cy="1854497"/>
          </a:xfrm>
        </p:spPr>
        <p:txBody>
          <a:bodyPr>
            <a:noAutofit/>
          </a:bodyPr>
          <a:lstStyle/>
          <a:p>
            <a:r>
              <a:rPr lang="es-PE" sz="2800" b="1" dirty="0"/>
              <a:t>«LINEAMIENTOS METODOLÓGICOS DEL TRABAJO DE SUFICIENCIA PROFESIONAL PARA LA OBTENCIÓN DE LA TITULACIÓN PROFESIONAL EN INGENIERÍA GEOLÓGICA, MINERA Y METALURGICA”</a:t>
            </a:r>
          </a:p>
        </p:txBody>
      </p:sp>
      <p:sp>
        <p:nvSpPr>
          <p:cNvPr id="12" name="1 Título"/>
          <p:cNvSpPr>
            <a:spLocks noGrp="1"/>
          </p:cNvSpPr>
          <p:nvPr>
            <p:ph type="ctrTitle"/>
          </p:nvPr>
        </p:nvSpPr>
        <p:spPr>
          <a:xfrm>
            <a:off x="855476" y="2438015"/>
            <a:ext cx="7362056" cy="1207008"/>
          </a:xfrm>
        </p:spPr>
        <p:txBody>
          <a:bodyPr>
            <a:normAutofit fontScale="90000"/>
          </a:bodyPr>
          <a:lstStyle/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es-PE" sz="2200" dirty="0">
                <a:solidFill>
                  <a:schemeClr val="tx2"/>
                </a:solidFill>
              </a:rPr>
            </a:br>
            <a:br>
              <a:rPr lang="es-PE" sz="2200" dirty="0">
                <a:solidFill>
                  <a:schemeClr val="tx2"/>
                </a:solidFill>
              </a:rPr>
            </a:br>
            <a:br>
              <a:rPr lang="es-PE" sz="2200" dirty="0">
                <a:solidFill>
                  <a:schemeClr val="tx2"/>
                </a:solidFill>
              </a:rPr>
            </a:br>
            <a:br>
              <a:rPr lang="es-PE" sz="2200" dirty="0">
                <a:solidFill>
                  <a:schemeClr val="tx2"/>
                </a:solidFill>
              </a:rPr>
            </a:br>
            <a:r>
              <a:rPr lang="es-PE" sz="2200" dirty="0">
                <a:solidFill>
                  <a:schemeClr val="tx2"/>
                </a:solidFill>
              </a:rPr>
              <a:t>Universidad nacional de Ingeniería</a:t>
            </a:r>
            <a:br>
              <a:rPr lang="es-PE" sz="2200" dirty="0">
                <a:solidFill>
                  <a:schemeClr val="tx2"/>
                </a:solidFill>
              </a:rPr>
            </a:br>
            <a:r>
              <a:rPr lang="es-PE" sz="2200" dirty="0">
                <a:solidFill>
                  <a:schemeClr val="tx2"/>
                </a:solidFill>
              </a:rPr>
              <a:t>facultad de ingeniería GEOLÓGICA, MINERA Y METALURGICA</a:t>
            </a:r>
            <a:br>
              <a:rPr lang="es-PE" sz="2200" dirty="0">
                <a:solidFill>
                  <a:schemeClr val="tx2"/>
                </a:solidFill>
              </a:rPr>
            </a:br>
            <a:r>
              <a:rPr kumimoji="0" lang="es-PE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SEGUNDO PROGRAMA DE TITULACIÓN</a:t>
            </a:r>
            <a:br>
              <a:rPr kumimoji="0" lang="es-PE" sz="28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lang="es-PE" sz="2200" dirty="0">
                <a:solidFill>
                  <a:schemeClr val="tx2"/>
                </a:solidFill>
              </a:rPr>
            </a:br>
            <a:endParaRPr lang="es-PE" sz="2400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69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89756" y="88977"/>
            <a:ext cx="8802724" cy="891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solidFill>
                <a:prstClr val="white"/>
              </a:solidFill>
            </a:endParaRPr>
          </a:p>
          <a:p>
            <a:pPr algn="ctr"/>
            <a:r>
              <a:rPr lang="es-ES" sz="3200" b="1" dirty="0">
                <a:solidFill>
                  <a:prstClr val="white"/>
                </a:solidFill>
              </a:rPr>
              <a:t>CARACTERISTICAS DE UN PROYECTO DE INVESTIGACIÓN </a:t>
            </a:r>
          </a:p>
          <a:p>
            <a:pPr algn="ctr"/>
            <a:endParaRPr lang="es-ES" sz="3600" b="1" dirty="0">
              <a:solidFill>
                <a:prstClr val="white"/>
              </a:solidFill>
            </a:endParaRPr>
          </a:p>
        </p:txBody>
      </p:sp>
      <p:sp>
        <p:nvSpPr>
          <p:cNvPr id="5" name="AutoShape 2" descr="Resultado de imagen para logo de la un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aphicFrame>
        <p:nvGraphicFramePr>
          <p:cNvPr id="7" name="4 Diagrama"/>
          <p:cNvGraphicFramePr/>
          <p:nvPr>
            <p:extLst>
              <p:ext uri="{D42A27DB-BD31-4B8C-83A1-F6EECF244321}">
                <p14:modId xmlns:p14="http://schemas.microsoft.com/office/powerpoint/2010/main" val="2526005626"/>
              </p:ext>
            </p:extLst>
          </p:nvPr>
        </p:nvGraphicFramePr>
        <p:xfrm>
          <a:off x="467544" y="1043644"/>
          <a:ext cx="8442684" cy="4844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6 CuadroTexto"/>
          <p:cNvSpPr txBox="1"/>
          <p:nvPr/>
        </p:nvSpPr>
        <p:spPr>
          <a:xfrm>
            <a:off x="2699792" y="3142709"/>
            <a:ext cx="542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PE" sz="3600" b="1" dirty="0"/>
          </a:p>
        </p:txBody>
      </p:sp>
      <p:sp>
        <p:nvSpPr>
          <p:cNvPr id="9" name="7 CuadroTexto"/>
          <p:cNvSpPr txBox="1"/>
          <p:nvPr/>
        </p:nvSpPr>
        <p:spPr>
          <a:xfrm>
            <a:off x="467544" y="3358733"/>
            <a:ext cx="583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1.</a:t>
            </a:r>
          </a:p>
        </p:txBody>
      </p:sp>
      <p:sp>
        <p:nvSpPr>
          <p:cNvPr id="10" name="8 CuadroTexto"/>
          <p:cNvSpPr txBox="1"/>
          <p:nvPr/>
        </p:nvSpPr>
        <p:spPr>
          <a:xfrm>
            <a:off x="3242648" y="1846565"/>
            <a:ext cx="609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2.</a:t>
            </a:r>
          </a:p>
        </p:txBody>
      </p:sp>
      <p:sp>
        <p:nvSpPr>
          <p:cNvPr id="11" name="9 CuadroTexto"/>
          <p:cNvSpPr txBox="1"/>
          <p:nvPr/>
        </p:nvSpPr>
        <p:spPr>
          <a:xfrm>
            <a:off x="6084168" y="3358733"/>
            <a:ext cx="57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1451410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89756" y="88977"/>
            <a:ext cx="7434572" cy="891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solidFill>
                <a:prstClr val="white"/>
              </a:solidFill>
            </a:endParaRPr>
          </a:p>
          <a:p>
            <a:pPr algn="ctr"/>
            <a:r>
              <a:rPr lang="es-ES" sz="3600" b="1" dirty="0">
                <a:solidFill>
                  <a:prstClr val="white"/>
                </a:solidFill>
              </a:rPr>
              <a:t>PAUTAS PARA UNA INVESTIGACIÓN </a:t>
            </a:r>
          </a:p>
          <a:p>
            <a:pPr algn="ctr"/>
            <a:endParaRPr lang="es-ES" sz="3600" b="1" dirty="0">
              <a:solidFill>
                <a:prstClr val="white"/>
              </a:solidFill>
            </a:endParaRPr>
          </a:p>
        </p:txBody>
      </p:sp>
      <p:sp>
        <p:nvSpPr>
          <p:cNvPr id="5" name="AutoShape 2" descr="Resultado de imagen para logo de la un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graphicFrame>
        <p:nvGraphicFramePr>
          <p:cNvPr id="7" name="4 Diagrama"/>
          <p:cNvGraphicFramePr/>
          <p:nvPr>
            <p:extLst>
              <p:ext uri="{D42A27DB-BD31-4B8C-83A1-F6EECF244321}">
                <p14:modId xmlns:p14="http://schemas.microsoft.com/office/powerpoint/2010/main" val="782034185"/>
              </p:ext>
            </p:extLst>
          </p:nvPr>
        </p:nvGraphicFramePr>
        <p:xfrm>
          <a:off x="467544" y="1043644"/>
          <a:ext cx="8442684" cy="4844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6 CuadroTexto"/>
          <p:cNvSpPr txBox="1"/>
          <p:nvPr/>
        </p:nvSpPr>
        <p:spPr>
          <a:xfrm>
            <a:off x="2699792" y="3142709"/>
            <a:ext cx="542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1.</a:t>
            </a:r>
          </a:p>
        </p:txBody>
      </p:sp>
      <p:sp>
        <p:nvSpPr>
          <p:cNvPr id="9" name="7 CuadroTexto"/>
          <p:cNvSpPr txBox="1"/>
          <p:nvPr/>
        </p:nvSpPr>
        <p:spPr>
          <a:xfrm>
            <a:off x="467544" y="3358733"/>
            <a:ext cx="583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2.</a:t>
            </a:r>
          </a:p>
        </p:txBody>
      </p:sp>
      <p:sp>
        <p:nvSpPr>
          <p:cNvPr id="10" name="8 CuadroTexto"/>
          <p:cNvSpPr txBox="1"/>
          <p:nvPr/>
        </p:nvSpPr>
        <p:spPr>
          <a:xfrm>
            <a:off x="3059832" y="1846565"/>
            <a:ext cx="642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3.</a:t>
            </a:r>
          </a:p>
        </p:txBody>
      </p:sp>
      <p:sp>
        <p:nvSpPr>
          <p:cNvPr id="11" name="9 CuadroTexto"/>
          <p:cNvSpPr txBox="1"/>
          <p:nvPr/>
        </p:nvSpPr>
        <p:spPr>
          <a:xfrm>
            <a:off x="6228184" y="3358733"/>
            <a:ext cx="57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04077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119720" y="89054"/>
            <a:ext cx="7434572" cy="891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dirty="0">
                <a:solidFill>
                  <a:prstClr val="white"/>
                </a:solidFill>
                <a:latin typeface="Cooper Black" panose="0208090404030B020404" pitchFamily="18" charset="0"/>
              </a:rPr>
              <a:t>LA PERSPECTIVA DE LA ESCALERA DEL CONOCIMIENTO</a:t>
            </a:r>
          </a:p>
        </p:txBody>
      </p:sp>
      <p:cxnSp>
        <p:nvCxnSpPr>
          <p:cNvPr id="9" name="Conector recto 8"/>
          <p:cNvCxnSpPr/>
          <p:nvPr/>
        </p:nvCxnSpPr>
        <p:spPr>
          <a:xfrm>
            <a:off x="251520" y="6370875"/>
            <a:ext cx="1872208" cy="1045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 flipV="1">
            <a:off x="2123728" y="5589240"/>
            <a:ext cx="0" cy="79208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>
            <a:off x="2123728" y="5599338"/>
            <a:ext cx="1080120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V="1">
            <a:off x="3203848" y="4797152"/>
            <a:ext cx="0" cy="79208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3203848" y="4797152"/>
            <a:ext cx="1080120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 flipV="1">
            <a:off x="4283968" y="4035092"/>
            <a:ext cx="0" cy="79208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4283968" y="4035092"/>
            <a:ext cx="1080120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/>
          <p:cNvCxnSpPr/>
          <p:nvPr/>
        </p:nvCxnSpPr>
        <p:spPr>
          <a:xfrm flipV="1">
            <a:off x="5364088" y="3243004"/>
            <a:ext cx="0" cy="79208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/>
          <p:cNvCxnSpPr/>
          <p:nvPr/>
        </p:nvCxnSpPr>
        <p:spPr>
          <a:xfrm>
            <a:off x="5364088" y="3212976"/>
            <a:ext cx="1080120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/>
          <p:cNvCxnSpPr/>
          <p:nvPr/>
        </p:nvCxnSpPr>
        <p:spPr>
          <a:xfrm flipV="1">
            <a:off x="6444208" y="2420888"/>
            <a:ext cx="0" cy="79208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/>
          <p:nvPr/>
        </p:nvCxnSpPr>
        <p:spPr>
          <a:xfrm>
            <a:off x="6444208" y="2420888"/>
            <a:ext cx="1080120" cy="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 flipV="1">
            <a:off x="7524328" y="1628800"/>
            <a:ext cx="0" cy="792088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/>
          <p:nvPr/>
        </p:nvCxnSpPr>
        <p:spPr>
          <a:xfrm>
            <a:off x="7524328" y="1628800"/>
            <a:ext cx="1296144" cy="0"/>
          </a:xfrm>
          <a:prstGeom prst="straightConnector1">
            <a:avLst/>
          </a:prstGeom>
          <a:ln w="762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/>
          <p:cNvCxnSpPr/>
          <p:nvPr/>
        </p:nvCxnSpPr>
        <p:spPr>
          <a:xfrm>
            <a:off x="7506580" y="1628800"/>
            <a:ext cx="1529916" cy="0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>
            <a:off x="251520" y="5847655"/>
            <a:ext cx="2195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tx2">
                    <a:lumMod val="50000"/>
                  </a:schemeClr>
                </a:solidFill>
              </a:rPr>
              <a:t>DESCUBRIR</a:t>
            </a:r>
            <a:endParaRPr lang="en-US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2520280" y="4221088"/>
            <a:ext cx="2195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tx2">
                    <a:lumMod val="50000"/>
                  </a:schemeClr>
                </a:solidFill>
              </a:rPr>
              <a:t>DESCRIBIR</a:t>
            </a:r>
            <a:endParaRPr lang="en-US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1403648" y="5085184"/>
            <a:ext cx="2195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tx2">
                    <a:lumMod val="50000"/>
                  </a:schemeClr>
                </a:solidFill>
              </a:rPr>
              <a:t>OBSERVAR</a:t>
            </a:r>
            <a:endParaRPr lang="en-US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2" name="CuadroTexto 31"/>
          <p:cNvSpPr txBox="1"/>
          <p:nvPr/>
        </p:nvSpPr>
        <p:spPr>
          <a:xfrm>
            <a:off x="3672408" y="3481844"/>
            <a:ext cx="2195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tx2">
                    <a:lumMod val="50000"/>
                  </a:schemeClr>
                </a:solidFill>
              </a:rPr>
              <a:t>ANALIZAR</a:t>
            </a:r>
            <a:endParaRPr lang="en-US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4464496" y="2617748"/>
            <a:ext cx="2195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tx2">
                    <a:lumMod val="50000"/>
                  </a:schemeClr>
                </a:solidFill>
              </a:rPr>
              <a:t>FORMULAR</a:t>
            </a:r>
            <a:endParaRPr lang="en-US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5976664" y="1825660"/>
            <a:ext cx="2195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tx2">
                    <a:lumMod val="50000"/>
                  </a:schemeClr>
                </a:solidFill>
              </a:rPr>
              <a:t>VALIDAR</a:t>
            </a:r>
            <a:endParaRPr lang="en-US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7416824" y="1124744"/>
            <a:ext cx="2195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b="1" dirty="0">
                <a:solidFill>
                  <a:schemeClr val="tx2">
                    <a:lumMod val="50000"/>
                  </a:schemeClr>
                </a:solidFill>
              </a:rPr>
              <a:t>IMPACTAR</a:t>
            </a:r>
            <a:endParaRPr lang="en-US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294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87524" y="1988840"/>
            <a:ext cx="8568952" cy="4392488"/>
          </a:xfrm>
        </p:spPr>
        <p:txBody>
          <a:bodyPr>
            <a:normAutofit/>
          </a:bodyPr>
          <a:lstStyle/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 Que es investigación ?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endParaRPr lang="es-ES" sz="4800" dirty="0"/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 Cuál es el rol de la investigación ?</a:t>
            </a: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1691680" y="88977"/>
            <a:ext cx="6120680" cy="891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LA 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791670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123728" y="88977"/>
            <a:ext cx="4915800" cy="891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b="1" dirty="0">
                <a:solidFill>
                  <a:schemeClr val="bg1"/>
                </a:solidFill>
              </a:rPr>
              <a:t>ROL DE LA INVESTIGACIÓN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89755" y="2435930"/>
            <a:ext cx="1829869" cy="134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chemeClr val="bg1"/>
                </a:solidFill>
                <a:latin typeface="Arial Black" pitchFamily="34" charset="0"/>
              </a:rPr>
              <a:t>SITUACIÓN ACTUAL</a:t>
            </a:r>
          </a:p>
        </p:txBody>
      </p:sp>
      <p:sp>
        <p:nvSpPr>
          <p:cNvPr id="18" name="Rectángulo redondeado 17"/>
          <p:cNvSpPr/>
          <p:nvPr/>
        </p:nvSpPr>
        <p:spPr>
          <a:xfrm>
            <a:off x="89754" y="3864236"/>
            <a:ext cx="1845745" cy="355600"/>
          </a:xfrm>
          <a:prstGeom prst="roundRect">
            <a:avLst>
              <a:gd name="adj" fmla="val 4963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rgbClr val="FF0000"/>
                </a:solidFill>
              </a:rPr>
              <a:t>PROBLEMÁTICA</a:t>
            </a:r>
          </a:p>
        </p:txBody>
      </p:sp>
      <p:sp>
        <p:nvSpPr>
          <p:cNvPr id="19" name="Elipse 18"/>
          <p:cNvSpPr/>
          <p:nvPr/>
        </p:nvSpPr>
        <p:spPr>
          <a:xfrm>
            <a:off x="3501370" y="1523118"/>
            <a:ext cx="1797844" cy="389215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es-PE" sz="11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Cooper Black" panose="0208090404030B020404" pitchFamily="18" charset="0"/>
              </a:rPr>
              <a:t>INVESTIGACIÓ</a:t>
            </a:r>
            <a:r>
              <a:rPr lang="es-PE" sz="1200" dirty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Cooper Black" panose="0208090404030B020404" pitchFamily="18" charset="0"/>
              </a:rPr>
              <a:t>N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6852584" y="2397036"/>
            <a:ext cx="1967888" cy="1346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chemeClr val="bg1"/>
                </a:solidFill>
                <a:latin typeface="Arial Black" pitchFamily="34" charset="0"/>
              </a:rPr>
              <a:t>SITUACIÓN FUTURA</a:t>
            </a:r>
          </a:p>
        </p:txBody>
      </p:sp>
      <p:sp>
        <p:nvSpPr>
          <p:cNvPr id="21" name="Rectángulo redondeado 20"/>
          <p:cNvSpPr/>
          <p:nvPr/>
        </p:nvSpPr>
        <p:spPr>
          <a:xfrm>
            <a:off x="6880959" y="3888047"/>
            <a:ext cx="1939513" cy="355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rgbClr val="FF0000"/>
                </a:solidFill>
              </a:rPr>
              <a:t>OBJETIVO</a:t>
            </a:r>
          </a:p>
        </p:txBody>
      </p:sp>
      <p:sp>
        <p:nvSpPr>
          <p:cNvPr id="22" name="Rectángulo redondeado 21"/>
          <p:cNvSpPr/>
          <p:nvPr/>
        </p:nvSpPr>
        <p:spPr>
          <a:xfrm>
            <a:off x="3104892" y="5542667"/>
            <a:ext cx="2590800" cy="355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rgbClr val="FF0000"/>
                </a:solidFill>
              </a:rPr>
              <a:t>JUSTIFICACIÓN</a:t>
            </a:r>
          </a:p>
        </p:txBody>
      </p:sp>
      <p:sp>
        <p:nvSpPr>
          <p:cNvPr id="23" name="Flecha derecha 22"/>
          <p:cNvSpPr/>
          <p:nvPr/>
        </p:nvSpPr>
        <p:spPr>
          <a:xfrm>
            <a:off x="2248488" y="2860586"/>
            <a:ext cx="1050824" cy="673100"/>
          </a:xfrm>
          <a:prstGeom prst="rightArrow">
            <a:avLst/>
          </a:prstGeom>
          <a:ln>
            <a:solidFill>
              <a:srgbClr val="7030A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Flecha derecha 23"/>
          <p:cNvSpPr/>
          <p:nvPr/>
        </p:nvSpPr>
        <p:spPr>
          <a:xfrm>
            <a:off x="5564674" y="2829630"/>
            <a:ext cx="1050824" cy="673100"/>
          </a:xfrm>
          <a:prstGeom prst="rightArrow">
            <a:avLst/>
          </a:prstGeom>
          <a:ln>
            <a:solidFill>
              <a:srgbClr val="7030A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104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ipse 18"/>
          <p:cNvSpPr/>
          <p:nvPr/>
        </p:nvSpPr>
        <p:spPr>
          <a:xfrm>
            <a:off x="3501370" y="1523118"/>
            <a:ext cx="1797844" cy="389215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es-PE" sz="1200" dirty="0">
              <a:ln w="0">
                <a:solidFill>
                  <a:schemeClr val="bg1"/>
                </a:solidFill>
              </a:ln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Cooper Black" panose="0208090404030B020404" pitchFamily="18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89756" y="88977"/>
            <a:ext cx="7434572" cy="891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b="1" dirty="0">
                <a:solidFill>
                  <a:schemeClr val="bg1"/>
                </a:solidFill>
              </a:rPr>
              <a:t>CONSECUENCIA DE LA FALTA DE INVESTIGACIÓN</a:t>
            </a:r>
          </a:p>
        </p:txBody>
      </p:sp>
      <p:sp>
        <p:nvSpPr>
          <p:cNvPr id="17" name="Rectángulo 16"/>
          <p:cNvSpPr/>
          <p:nvPr/>
        </p:nvSpPr>
        <p:spPr>
          <a:xfrm>
            <a:off x="89755" y="2435930"/>
            <a:ext cx="1829869" cy="134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chemeClr val="bg1"/>
                </a:solidFill>
                <a:latin typeface="Arial Black" pitchFamily="34" charset="0"/>
              </a:rPr>
              <a:t>SITUACIÓN ACTUAL</a:t>
            </a:r>
          </a:p>
        </p:txBody>
      </p:sp>
      <p:sp>
        <p:nvSpPr>
          <p:cNvPr id="18" name="Rectángulo redondeado 17"/>
          <p:cNvSpPr/>
          <p:nvPr/>
        </p:nvSpPr>
        <p:spPr>
          <a:xfrm>
            <a:off x="89754" y="3864236"/>
            <a:ext cx="1845745" cy="355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rgbClr val="FF0000"/>
                </a:solidFill>
              </a:rPr>
              <a:t>PROBLEMÁTICA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6852584" y="2397036"/>
            <a:ext cx="1967888" cy="1346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chemeClr val="bg1"/>
                </a:solidFill>
                <a:latin typeface="Arial Black" pitchFamily="34" charset="0"/>
              </a:rPr>
              <a:t>SITUACIÓN FUTURA  : situación ACTUAL</a:t>
            </a:r>
          </a:p>
        </p:txBody>
      </p:sp>
      <p:sp>
        <p:nvSpPr>
          <p:cNvPr id="21" name="Rectángulo redondeado 20"/>
          <p:cNvSpPr/>
          <p:nvPr/>
        </p:nvSpPr>
        <p:spPr>
          <a:xfrm>
            <a:off x="6880959" y="3888047"/>
            <a:ext cx="1939513" cy="355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>
                <a:solidFill>
                  <a:srgbClr val="FF0000"/>
                </a:solidFill>
              </a:rPr>
              <a:t>PROBLEMÁTICA</a:t>
            </a:r>
          </a:p>
        </p:txBody>
      </p:sp>
      <p:sp>
        <p:nvSpPr>
          <p:cNvPr id="23" name="Flecha derecha 22"/>
          <p:cNvSpPr/>
          <p:nvPr/>
        </p:nvSpPr>
        <p:spPr>
          <a:xfrm>
            <a:off x="2248488" y="2860586"/>
            <a:ext cx="1050824" cy="673100"/>
          </a:xfrm>
          <a:prstGeom prst="rightArrow">
            <a:avLst/>
          </a:prstGeom>
          <a:ln>
            <a:solidFill>
              <a:srgbClr val="7030A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Flecha derecha 23"/>
          <p:cNvSpPr/>
          <p:nvPr/>
        </p:nvSpPr>
        <p:spPr>
          <a:xfrm>
            <a:off x="5564674" y="2829630"/>
            <a:ext cx="1050824" cy="673100"/>
          </a:xfrm>
          <a:prstGeom prst="rightArrow">
            <a:avLst/>
          </a:prstGeom>
          <a:ln>
            <a:solidFill>
              <a:srgbClr val="7030A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639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395536" y="1268760"/>
            <a:ext cx="8173416" cy="5256584"/>
          </a:xfrm>
        </p:spPr>
        <p:txBody>
          <a:bodyPr>
            <a:normAutofit/>
          </a:bodyPr>
          <a:lstStyle/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endParaRPr lang="es-E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r>
              <a:rPr lang="es-ES" sz="4800" b="1" dirty="0"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r>
              <a:rPr lang="es-E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. Plan de Tesis </a:t>
            </a: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r>
              <a:rPr lang="es-E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(Plan de Trabajo de Suficiencia)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endParaRPr lang="es-ES" sz="4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r>
              <a:rPr lang="es-ES" sz="4800" b="1" dirty="0">
                <a:latin typeface="Aharoni" panose="02010803020104030203" pitchFamily="2" charset="-79"/>
                <a:cs typeface="Aharoni" panose="02010803020104030203" pitchFamily="2" charset="-79"/>
              </a:rPr>
              <a:t>2. Tesis</a:t>
            </a:r>
          </a:p>
          <a:p>
            <a:pPr marL="174625" lvl="0" indent="0" algn="ctr">
              <a:spcBef>
                <a:spcPts val="1000"/>
              </a:spcBef>
              <a:buClr>
                <a:srgbClr val="00B0F0"/>
              </a:buClr>
              <a:buNone/>
            </a:pPr>
            <a:r>
              <a:rPr lang="es-ES" sz="4000" b="1" dirty="0">
                <a:solidFill>
                  <a:prstClr val="black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(Trabajo de Suficiencia)</a:t>
            </a: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endParaRPr lang="es-ES" sz="2800" b="1" dirty="0">
              <a:solidFill>
                <a:schemeClr val="accent5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endParaRPr lang="es-ES" sz="2800" b="1" dirty="0">
              <a:solidFill>
                <a:schemeClr val="accent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endParaRPr lang="es-ES" sz="4800" b="1" dirty="0">
              <a:solidFill>
                <a:schemeClr val="accent5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395536" y="0"/>
            <a:ext cx="8424936" cy="891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ETAPAS DEL TRABAJO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3377289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87524" y="1196752"/>
            <a:ext cx="8568952" cy="5328592"/>
          </a:xfrm>
        </p:spPr>
        <p:txBody>
          <a:bodyPr>
            <a:normAutofit lnSpcReduction="10000"/>
          </a:bodyPr>
          <a:lstStyle/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3500" b="1" dirty="0">
                <a:latin typeface="Aharoni" panose="02010803020104030203" pitchFamily="2" charset="-79"/>
                <a:cs typeface="Aharoni" panose="02010803020104030203" pitchFamily="2" charset="-79"/>
              </a:rPr>
              <a:t>OBJETIVIDAD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3500" b="1" dirty="0">
                <a:latin typeface="Aharoni" panose="02010803020104030203" pitchFamily="2" charset="-79"/>
                <a:cs typeface="Aharoni" panose="02010803020104030203" pitchFamily="2" charset="-79"/>
              </a:rPr>
              <a:t>PERTINENCIA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3500" b="1" dirty="0">
                <a:latin typeface="Aharoni" panose="02010803020104030203" pitchFamily="2" charset="-79"/>
                <a:cs typeface="Aharoni" panose="02010803020104030203" pitchFamily="2" charset="-79"/>
              </a:rPr>
              <a:t>RIGUROSIDAD EN FONDO Y FORMA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3500" b="1" dirty="0">
                <a:latin typeface="Aharoni" panose="02010803020104030203" pitchFamily="2" charset="-79"/>
                <a:cs typeface="Aharoni" panose="02010803020104030203" pitchFamily="2" charset="-79"/>
              </a:rPr>
              <a:t>INICIO DEL ANÁLISIS DE UNA PROBLEMÁTICA DE REALIDAD ACTUAL</a:t>
            </a:r>
            <a:endParaRPr lang="es-ES" sz="3500" b="1" dirty="0">
              <a:solidFill>
                <a:schemeClr val="accent5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3500" b="1" dirty="0">
                <a:solidFill>
                  <a:schemeClr val="accent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CONTRIBUCIÓN DE ACUERDO AL ESTÁNDAR MÍNIMO CORRESPONDIENTE AL NIVEL DE INVESTIGACIÓN (Pregrado, Diplomado, Maestría, Doctorado)</a:t>
            </a: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89756" y="88977"/>
            <a:ext cx="7434572" cy="891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Características de una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226959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0" y="1052736"/>
            <a:ext cx="8568952" cy="5112568"/>
          </a:xfrm>
        </p:spPr>
        <p:txBody>
          <a:bodyPr>
            <a:normAutofit fontScale="70000" lnSpcReduction="20000"/>
          </a:bodyPr>
          <a:lstStyle/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endParaRPr lang="es-E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r>
              <a:rPr lang="es-ES" sz="4000" b="1" dirty="0">
                <a:latin typeface="Aharoni" panose="02010803020104030203" pitchFamily="2" charset="-79"/>
                <a:cs typeface="Aharoni" panose="02010803020104030203" pitchFamily="2" charset="-79"/>
              </a:rPr>
              <a:t>Sustentar una “afirmación” a través de :</a:t>
            </a: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endParaRPr lang="es-E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5700" b="1" dirty="0">
                <a:latin typeface="Aharoni" panose="02010803020104030203" pitchFamily="2" charset="-79"/>
                <a:cs typeface="Aharoni" panose="02010803020104030203" pitchFamily="2" charset="-79"/>
              </a:rPr>
              <a:t>Fuente Bibliográfica: Tesis, publicación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5700" b="1" dirty="0">
                <a:latin typeface="Aharoni" panose="02010803020104030203" pitchFamily="2" charset="-79"/>
                <a:cs typeface="Aharoni" panose="02010803020104030203" pitchFamily="2" charset="-79"/>
              </a:rPr>
              <a:t>Pie de página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5700" b="1" dirty="0">
                <a:latin typeface="Aharoni" panose="02010803020104030203" pitchFamily="2" charset="-79"/>
                <a:cs typeface="Aharoni" panose="02010803020104030203" pitchFamily="2" charset="-79"/>
              </a:rPr>
              <a:t>Citas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5700" b="1" dirty="0">
                <a:latin typeface="Aharoni" panose="02010803020104030203" pitchFamily="2" charset="-79"/>
                <a:cs typeface="Aharoni" panose="02010803020104030203" pitchFamily="2" charset="-79"/>
              </a:rPr>
              <a:t>Cifras Estadísticas documentadas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5700" b="1" dirty="0">
                <a:latin typeface="Aharoni" panose="02010803020104030203" pitchFamily="2" charset="-79"/>
                <a:cs typeface="Aharoni" panose="02010803020104030203" pitchFamily="2" charset="-79"/>
              </a:rPr>
              <a:t>Gráficas, Diagramas, Tablas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endParaRPr lang="es-ES" sz="2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endParaRPr lang="es-ES" sz="57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endParaRPr lang="es-ES" sz="2800" b="1" dirty="0">
              <a:solidFill>
                <a:schemeClr val="accent5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endParaRPr lang="es-ES" sz="2800" b="1" dirty="0">
              <a:solidFill>
                <a:schemeClr val="accent5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endParaRPr lang="es-ES" sz="2800" b="1" dirty="0">
              <a:solidFill>
                <a:schemeClr val="accent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1043608" y="52973"/>
            <a:ext cx="7434572" cy="891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prstClr val="white"/>
                </a:solidFill>
              </a:rPr>
              <a:t>FORMAS DE MANTENER OBJETIVIDAD EN UNA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2671610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0" y="1052736"/>
            <a:ext cx="8568952" cy="5472608"/>
          </a:xfrm>
        </p:spPr>
        <p:txBody>
          <a:bodyPr>
            <a:normAutofit fontScale="77500" lnSpcReduction="20000"/>
          </a:bodyPr>
          <a:lstStyle/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endParaRPr lang="es-E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r>
              <a:rPr lang="es-ES" sz="4800" b="1" dirty="0">
                <a:latin typeface="Aharoni" panose="02010803020104030203" pitchFamily="2" charset="-79"/>
                <a:cs typeface="Aharoni" panose="02010803020104030203" pitchFamily="2" charset="-79"/>
              </a:rPr>
              <a:t>No redactar empleando :</a:t>
            </a: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endParaRPr lang="es-ES" sz="48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4800" b="1" dirty="0">
                <a:latin typeface="Aharoni" panose="02010803020104030203" pitchFamily="2" charset="-79"/>
                <a:cs typeface="Aharoni" panose="02010803020104030203" pitchFamily="2" charset="-79"/>
              </a:rPr>
              <a:t>Términos subjetivos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4800" b="1" dirty="0">
                <a:latin typeface="Aharoni" panose="02010803020104030203" pitchFamily="2" charset="-79"/>
                <a:cs typeface="Aharoni" panose="02010803020104030203" pitchFamily="2" charset="-79"/>
              </a:rPr>
              <a:t>Términos coloquiales, informales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4800" b="1" dirty="0">
                <a:latin typeface="Aharoni" panose="02010803020104030203" pitchFamily="2" charset="-79"/>
                <a:cs typeface="Aharoni" panose="02010803020104030203" pitchFamily="2" charset="-79"/>
              </a:rPr>
              <a:t>Términos retóricos, literarios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4800" b="1" dirty="0">
                <a:latin typeface="Aharoni" panose="02010803020104030203" pitchFamily="2" charset="-79"/>
                <a:cs typeface="Aharoni" panose="02010803020104030203" pitchFamily="2" charset="-79"/>
              </a:rPr>
              <a:t>Términos en primera persona (ni singular ni plural)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4800" b="1" dirty="0">
                <a:latin typeface="Aharoni" panose="02010803020104030203" pitchFamily="2" charset="-79"/>
                <a:cs typeface="Aharoni" panose="02010803020104030203" pitchFamily="2" charset="-79"/>
              </a:rPr>
              <a:t>Oraciones muy largas (máximo 4-5 líneas)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endParaRPr lang="es-ES" sz="2800" b="1" dirty="0">
              <a:solidFill>
                <a:schemeClr val="accent5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endParaRPr lang="es-ES" sz="2800" b="1" dirty="0">
              <a:solidFill>
                <a:schemeClr val="accent2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endParaRPr lang="es-ES" sz="4800" b="1" dirty="0">
              <a:solidFill>
                <a:schemeClr val="accent5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1763688" y="88977"/>
            <a:ext cx="5760640" cy="891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Lineamientos de Redacción</a:t>
            </a:r>
          </a:p>
        </p:txBody>
      </p:sp>
    </p:spTree>
    <p:extLst>
      <p:ext uri="{BB962C8B-B14F-4D97-AF65-F5344CB8AC3E}">
        <p14:creationId xmlns:p14="http://schemas.microsoft.com/office/powerpoint/2010/main" val="4160721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0" y="1484784"/>
            <a:ext cx="8856476" cy="4752528"/>
          </a:xfrm>
        </p:spPr>
        <p:txBody>
          <a:bodyPr>
            <a:normAutofit fontScale="62500" lnSpcReduction="20000"/>
          </a:bodyPr>
          <a:lstStyle/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endParaRPr lang="es-ES" sz="40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5700" b="1" dirty="0">
                <a:latin typeface="Aharoni" panose="02010803020104030203" pitchFamily="2" charset="-79"/>
                <a:cs typeface="Aharoni" panose="02010803020104030203" pitchFamily="2" charset="-79"/>
              </a:rPr>
              <a:t>BREVE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5700" b="1" dirty="0">
                <a:latin typeface="Aharoni" panose="02010803020104030203" pitchFamily="2" charset="-79"/>
                <a:cs typeface="Aharoni" panose="02010803020104030203" pitchFamily="2" charset="-79"/>
              </a:rPr>
              <a:t>IMPERSONAL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5700" b="1" dirty="0">
                <a:latin typeface="Aharoni" panose="02010803020104030203" pitchFamily="2" charset="-79"/>
                <a:cs typeface="Aharoni" panose="02010803020104030203" pitchFamily="2" charset="-79"/>
              </a:rPr>
              <a:t>REFLEJA LA CONTRIBUCIÓN – </a:t>
            </a:r>
            <a:r>
              <a:rPr lang="es-ES" sz="5700" b="1" dirty="0">
                <a:solidFill>
                  <a:schemeClr val="accent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Aporte del investigador (Variable Independiente : X)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5700" b="1" dirty="0">
                <a:latin typeface="Aharoni" panose="02010803020104030203" pitchFamily="2" charset="-79"/>
                <a:cs typeface="Aharoni" panose="02010803020104030203" pitchFamily="2" charset="-79"/>
              </a:rPr>
              <a:t>REFLEJA EL OBJETIVO – </a:t>
            </a:r>
            <a:r>
              <a:rPr lang="es-ES" sz="5700" b="1" dirty="0">
                <a:solidFill>
                  <a:schemeClr val="accent5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Finalidad de la investigación (Variable Dependiente: Y)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+mj-lt"/>
              <a:buAutoNum type="arabicPeriod"/>
            </a:pPr>
            <a:r>
              <a:rPr lang="es-ES" sz="5700" b="1" dirty="0">
                <a:solidFill>
                  <a:schemeClr val="accent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REFLEJA IDENTIDAD DIFERENCIATIVA</a:t>
            </a: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1547664" y="88977"/>
            <a:ext cx="6192688" cy="891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Lineamientos en la Formulación del TÍTULO</a:t>
            </a:r>
          </a:p>
        </p:txBody>
      </p:sp>
      <p:sp>
        <p:nvSpPr>
          <p:cNvPr id="9" name="SMARTInkShape-6"/>
          <p:cNvSpPr/>
          <p:nvPr>
            <p:custDataLst>
              <p:tags r:id="rId1"/>
            </p:custDataLst>
          </p:nvPr>
        </p:nvSpPr>
        <p:spPr>
          <a:xfrm>
            <a:off x="3929063" y="2914650"/>
            <a:ext cx="25718" cy="25718"/>
          </a:xfrm>
          <a:custGeom>
            <a:avLst/>
            <a:gdLst/>
            <a:ahLst/>
            <a:cxnLst/>
            <a:rect l="0" t="0" r="0" b="0"/>
            <a:pathLst>
              <a:path w="25718" h="25718">
                <a:moveTo>
                  <a:pt x="0" y="0"/>
                </a:moveTo>
                <a:lnTo>
                  <a:pt x="0" y="0"/>
                </a:lnTo>
                <a:lnTo>
                  <a:pt x="9102" y="4551"/>
                </a:lnTo>
                <a:lnTo>
                  <a:pt x="11783" y="6844"/>
                </a:lnTo>
                <a:lnTo>
                  <a:pt x="16508" y="13669"/>
                </a:lnTo>
                <a:lnTo>
                  <a:pt x="25717" y="25717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black"/>
              </a:solidFill>
            </a:endParaRPr>
          </a:p>
        </p:txBody>
      </p:sp>
      <p:sp>
        <p:nvSpPr>
          <p:cNvPr id="10" name="SMARTInkShape-7"/>
          <p:cNvSpPr/>
          <p:nvPr>
            <p:custDataLst>
              <p:tags r:id="rId2"/>
            </p:custDataLst>
          </p:nvPr>
        </p:nvSpPr>
        <p:spPr>
          <a:xfrm>
            <a:off x="3466148" y="3188970"/>
            <a:ext cx="17145" cy="17146"/>
          </a:xfrm>
          <a:custGeom>
            <a:avLst/>
            <a:gdLst/>
            <a:ahLst/>
            <a:cxnLst/>
            <a:rect l="0" t="0" r="0" b="0"/>
            <a:pathLst>
              <a:path w="17145" h="17146">
                <a:moveTo>
                  <a:pt x="17144" y="17145"/>
                </a:moveTo>
                <a:lnTo>
                  <a:pt x="17144" y="17145"/>
                </a:lnTo>
                <a:lnTo>
                  <a:pt x="8926" y="17145"/>
                </a:lnTo>
                <a:lnTo>
                  <a:pt x="8581" y="8926"/>
                </a:lnTo>
                <a:lnTo>
                  <a:pt x="105" y="8575"/>
                </a:ln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13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87524" y="1556792"/>
            <a:ext cx="8568952" cy="45719"/>
          </a:xfrm>
        </p:spPr>
        <p:txBody>
          <a:bodyPr>
            <a:normAutofit fontScale="25000" lnSpcReduction="20000"/>
          </a:bodyPr>
          <a:lstStyle/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endParaRPr lang="es-ES" sz="4100" dirty="0"/>
          </a:p>
          <a:p>
            <a:pPr marL="174625" indent="0">
              <a:spcBef>
                <a:spcPts val="1000"/>
              </a:spcBef>
              <a:buClr>
                <a:srgbClr val="00B0F0"/>
              </a:buClr>
              <a:buNone/>
            </a:pPr>
            <a:r>
              <a:rPr lang="es-ES" sz="4800" dirty="0"/>
              <a:t> </a:t>
            </a: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899592" y="55122"/>
            <a:ext cx="7632848" cy="1107776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2. Antecedentes  Referenciales</a:t>
            </a:r>
          </a:p>
        </p:txBody>
      </p:sp>
      <p:sp>
        <p:nvSpPr>
          <p:cNvPr id="6" name="Marcador de contenido 1"/>
          <p:cNvSpPr txBox="1">
            <a:spLocks/>
          </p:cNvSpPr>
          <p:nvPr/>
        </p:nvSpPr>
        <p:spPr>
          <a:xfrm>
            <a:off x="287524" y="1556792"/>
            <a:ext cx="8568952" cy="518457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>
                <a:solidFill>
                  <a:prstClr val="black"/>
                </a:solidFill>
              </a:rPr>
              <a:t>1.</a:t>
            </a:r>
            <a:r>
              <a:rPr lang="es-ES" sz="6000" dirty="0">
                <a:solidFill>
                  <a:prstClr val="black"/>
                </a:solidFill>
              </a:rPr>
              <a:t> Son resúmenes de investigaciones RECIENTES (8-10 años) </a:t>
            </a:r>
            <a:r>
              <a:rPr lang="es-ES" sz="6000" u="sng" dirty="0">
                <a:solidFill>
                  <a:prstClr val="black"/>
                </a:solidFill>
              </a:rPr>
              <a:t>relacionadas</a:t>
            </a:r>
            <a:r>
              <a:rPr lang="es-ES" sz="6000" dirty="0">
                <a:solidFill>
                  <a:prstClr val="black"/>
                </a:solidFill>
              </a:rPr>
              <a:t> con la Tesis a desarrollar.</a:t>
            </a:r>
            <a:r>
              <a:rPr lang="es-ES" sz="5700" dirty="0">
                <a:solidFill>
                  <a:prstClr val="black"/>
                </a:solidFill>
              </a:rPr>
              <a:t> 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5700" dirty="0">
                <a:solidFill>
                  <a:prstClr val="black"/>
                </a:solidFill>
              </a:rPr>
              <a:t>2. Las investigaciones deben ordenarse en primer lugar, las investigaciones a nivel internacional, luego a nivel nacional y finalmente a nivel local. </a:t>
            </a:r>
          </a:p>
        </p:txBody>
      </p:sp>
    </p:spTree>
    <p:extLst>
      <p:ext uri="{BB962C8B-B14F-4D97-AF65-F5344CB8AC3E}">
        <p14:creationId xmlns:p14="http://schemas.microsoft.com/office/powerpoint/2010/main" val="3398102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111460" y="1844824"/>
            <a:ext cx="8924849" cy="4608512"/>
          </a:xfrm>
        </p:spPr>
        <p:txBody>
          <a:bodyPr>
            <a:normAutofit fontScale="92500" lnSpcReduction="20000"/>
          </a:bodyPr>
          <a:lstStyle/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1. Describe la problemática de la situación </a:t>
            </a:r>
            <a:r>
              <a:rPr lang="es-ES" sz="4800" b="1" u="sng" dirty="0"/>
              <a:t>actual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2. Indicar causas raíces y consecuencias del problema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3. Sustentar con cifras/afirmaciones importantes empleando fuentes de sustento y/o referencias, tablas, diagramas, gráficos, etc.</a:t>
            </a: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89756" y="260648"/>
            <a:ext cx="8964488" cy="72008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solidFill>
                <a:prstClr val="white"/>
              </a:solidFill>
            </a:endParaRPr>
          </a:p>
          <a:p>
            <a:pPr algn="ctr"/>
            <a:r>
              <a:rPr lang="es-ES" sz="3600" b="1" dirty="0">
                <a:solidFill>
                  <a:prstClr val="white"/>
                </a:solidFill>
              </a:rPr>
              <a:t>3. Planteamiento del Problema</a:t>
            </a:r>
          </a:p>
          <a:p>
            <a:pPr algn="ctr"/>
            <a:endParaRPr lang="es-ES" sz="32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75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89756" y="88976"/>
            <a:ext cx="8964488" cy="819744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prstClr val="white"/>
                </a:solidFill>
              </a:rPr>
              <a:t>Casuística de Problema de Investigación–Ejemplo 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7" r="4176"/>
          <a:stretch/>
        </p:blipFill>
        <p:spPr bwMode="auto">
          <a:xfrm>
            <a:off x="2123728" y="1067457"/>
            <a:ext cx="4392488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7522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092929"/>
            <a:ext cx="4680520" cy="5586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99775" y="108733"/>
            <a:ext cx="8964488" cy="819744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prstClr val="white"/>
                </a:solidFill>
              </a:rPr>
              <a:t>Casuística de Problema de Investigación–Ejemplo 2</a:t>
            </a:r>
          </a:p>
        </p:txBody>
      </p:sp>
    </p:spTree>
    <p:extLst>
      <p:ext uri="{BB962C8B-B14F-4D97-AF65-F5344CB8AC3E}">
        <p14:creationId xmlns:p14="http://schemas.microsoft.com/office/powerpoint/2010/main" val="2025658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87524" y="1700808"/>
            <a:ext cx="8568952" cy="4680520"/>
          </a:xfrm>
        </p:spPr>
        <p:txBody>
          <a:bodyPr>
            <a:normAutofit/>
          </a:bodyPr>
          <a:lstStyle/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1. </a:t>
            </a:r>
            <a:r>
              <a:rPr lang="es-ES" sz="5400" u="sng" dirty="0"/>
              <a:t>Sintetiza</a:t>
            </a:r>
            <a:r>
              <a:rPr lang="es-ES" sz="5400" dirty="0"/>
              <a:t> la Problemática, en forma de pregunta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5400" dirty="0"/>
              <a:t>2. La pregunta debe ser </a:t>
            </a:r>
            <a:r>
              <a:rPr lang="es-ES" sz="5400" u="sng" dirty="0"/>
              <a:t>abierta</a:t>
            </a:r>
            <a:r>
              <a:rPr lang="es-ES" sz="5400" dirty="0"/>
              <a:t> no cerrada o dicotómica</a:t>
            </a: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683568" y="88976"/>
            <a:ext cx="7776864" cy="139580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Planteamiento del Problema</a:t>
            </a:r>
          </a:p>
          <a:p>
            <a:pPr algn="ctr"/>
            <a:r>
              <a:rPr lang="es-ES" sz="2800" b="1" dirty="0">
                <a:solidFill>
                  <a:prstClr val="white"/>
                </a:solidFill>
              </a:rPr>
              <a:t>FORMULACIÓN DEL PROBLEMA</a:t>
            </a:r>
          </a:p>
        </p:txBody>
      </p:sp>
    </p:spTree>
    <p:extLst>
      <p:ext uri="{BB962C8B-B14F-4D97-AF65-F5344CB8AC3E}">
        <p14:creationId xmlns:p14="http://schemas.microsoft.com/office/powerpoint/2010/main" val="2575898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87524" y="1484784"/>
            <a:ext cx="8568952" cy="4896544"/>
          </a:xfrm>
        </p:spPr>
        <p:txBody>
          <a:bodyPr>
            <a:normAutofit fontScale="92500" lnSpcReduction="10000"/>
          </a:bodyPr>
          <a:lstStyle/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1. El objetivo se inicia con un “verbo de acción”, </a:t>
            </a:r>
            <a:r>
              <a:rPr lang="es-ES" sz="4800" dirty="0" err="1"/>
              <a:t>Ej</a:t>
            </a:r>
            <a:r>
              <a:rPr lang="es-ES" sz="4800" dirty="0"/>
              <a:t>: Formular, Lograr, Diseñar, Mejorar, Reducir, Analizar, entre otros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2. El verbo de acción es acompañado por un «Logro» o «Resultado de la Investigación» (No de una actividad)</a:t>
            </a: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1187624" y="88976"/>
            <a:ext cx="7560840" cy="1107776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4. OBJETIVO </a:t>
            </a:r>
          </a:p>
        </p:txBody>
      </p:sp>
    </p:spTree>
    <p:extLst>
      <p:ext uri="{BB962C8B-B14F-4D97-AF65-F5344CB8AC3E}">
        <p14:creationId xmlns:p14="http://schemas.microsoft.com/office/powerpoint/2010/main" val="100093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0" y="1585302"/>
            <a:ext cx="9157648" cy="5516106"/>
          </a:xfrm>
        </p:spPr>
        <p:txBody>
          <a:bodyPr>
            <a:noAutofit/>
          </a:bodyPr>
          <a:lstStyle/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2400" dirty="0"/>
              <a:t>1. Hipótesis es una expresión condicional que incluye dos tipos de variables:  Variable dependiente y variable (s) independiente (s).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endParaRPr lang="es-ES" sz="2400" dirty="0"/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2400" dirty="0"/>
              <a:t>2. </a:t>
            </a:r>
            <a:r>
              <a:rPr lang="es-ES" sz="2400" b="1" dirty="0"/>
              <a:t>La variable dependiente </a:t>
            </a:r>
            <a:r>
              <a:rPr lang="es-ES" sz="2400" i="1" dirty="0"/>
              <a:t>e</a:t>
            </a:r>
            <a:r>
              <a:rPr lang="es-ES" sz="2400" dirty="0"/>
              <a:t>s una sola variable, mientras que la variable (s) independiente (s), puede ser más de una variable.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2400" dirty="0"/>
              <a:t>La variable dependiente, la cual se encuentra en el Título, corresponde a la «FINALIDAD DE LA INVESTIGACIÓN» 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endParaRPr lang="es-ES" sz="2400" dirty="0"/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2400" dirty="0"/>
              <a:t> 3. </a:t>
            </a:r>
            <a:r>
              <a:rPr lang="es-ES" sz="2400" b="1" dirty="0"/>
              <a:t>La variable independiente</a:t>
            </a:r>
            <a:r>
              <a:rPr lang="es-ES" sz="2400" dirty="0"/>
              <a:t>, se diferencia con la variable dependiente, debido a que la variable independiente denominada también variable experimental, es donde se efectúa la investigación . 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2400" dirty="0"/>
              <a:t>La variable independiente, la cual se encuentra en el Título, corresponde al «APORTE DEL INVESTIGADOR»</a:t>
            </a: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1115616" y="0"/>
            <a:ext cx="7488832" cy="118519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5. Hipótesis y </a:t>
            </a:r>
            <a:r>
              <a:rPr lang="es-ES" sz="3600" b="1" dirty="0" err="1">
                <a:solidFill>
                  <a:prstClr val="white"/>
                </a:solidFill>
              </a:rPr>
              <a:t>Operacionalización</a:t>
            </a:r>
            <a:r>
              <a:rPr lang="es-ES" sz="3600" b="1" dirty="0">
                <a:solidFill>
                  <a:prstClr val="white"/>
                </a:solidFill>
              </a:rPr>
              <a:t> de Variables 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1115616" y="1185192"/>
            <a:ext cx="7488832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s-PE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185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0" y="1412776"/>
            <a:ext cx="9144000" cy="5256584"/>
          </a:xfrm>
        </p:spPr>
        <p:txBody>
          <a:bodyPr>
            <a:normAutofit fontScale="70000" lnSpcReduction="20000"/>
          </a:bodyPr>
          <a:lstStyle/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r>
              <a:rPr lang="es-PE" sz="4800" dirty="0"/>
              <a:t>Revisión de literatura en libros, revistas, </a:t>
            </a:r>
            <a:r>
              <a:rPr lang="es-PE" sz="4800" dirty="0" err="1"/>
              <a:t>etc</a:t>
            </a:r>
            <a:r>
              <a:rPr lang="es-PE" sz="4800" dirty="0"/>
              <a:t>;      	     relacionados directamente con la investigación.</a:t>
            </a: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None/>
            </a:pPr>
            <a:r>
              <a:rPr lang="es-PE" sz="4800" dirty="0"/>
              <a:t> </a:t>
            </a:r>
            <a:endParaRPr lang="es-ES" sz="4800" dirty="0"/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1. BASES  T</a:t>
            </a:r>
            <a:r>
              <a:rPr lang="es-ES" sz="5100" dirty="0"/>
              <a:t>EORICAS:</a:t>
            </a:r>
            <a:r>
              <a:rPr lang="es-ES" sz="5100" dirty="0">
                <a:solidFill>
                  <a:prstClr val="black"/>
                </a:solidFill>
              </a:rPr>
              <a:t> Son resúmenes de investigaciones IMPORTANTES relacionadas con la Tesis a desarrollar, </a:t>
            </a:r>
            <a:r>
              <a:rPr lang="es-ES" sz="5100" u="sng" dirty="0">
                <a:solidFill>
                  <a:prstClr val="black"/>
                </a:solidFill>
              </a:rPr>
              <a:t>agrupándose</a:t>
            </a:r>
            <a:r>
              <a:rPr lang="es-ES" sz="5100" dirty="0">
                <a:solidFill>
                  <a:prstClr val="black"/>
                </a:solidFill>
              </a:rPr>
              <a:t> en temas. 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endParaRPr lang="es-ES" sz="5100" dirty="0">
              <a:solidFill>
                <a:prstClr val="black"/>
              </a:solidFill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5100" dirty="0"/>
              <a:t>2. MARCO CONCEPTUAL:</a:t>
            </a:r>
            <a:r>
              <a:rPr lang="es-ES" sz="5100" dirty="0">
                <a:solidFill>
                  <a:prstClr val="black"/>
                </a:solidFill>
              </a:rPr>
              <a:t> Son términos que teniendo </a:t>
            </a:r>
            <a:r>
              <a:rPr lang="es-ES" sz="5100" u="sng" dirty="0">
                <a:solidFill>
                  <a:prstClr val="black"/>
                </a:solidFill>
              </a:rPr>
              <a:t>diferentes interpretaciones</a:t>
            </a:r>
            <a:r>
              <a:rPr lang="es-ES" sz="5100" dirty="0">
                <a:solidFill>
                  <a:prstClr val="black"/>
                </a:solidFill>
              </a:rPr>
              <a:t>, se considera la interpretación  (definición) a utilizar en la Tesis (NO ES UN GLOSARIO)</a:t>
            </a:r>
            <a:endParaRPr lang="es-ES" sz="5100" dirty="0"/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827584" y="88976"/>
            <a:ext cx="7488832" cy="1107776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6. MARCO TEÓRICO: BASES TEÓRICAS Y MARCO CONCEPTUAL </a:t>
            </a:r>
          </a:p>
        </p:txBody>
      </p:sp>
    </p:spTree>
    <p:extLst>
      <p:ext uri="{BB962C8B-B14F-4D97-AF65-F5344CB8AC3E}">
        <p14:creationId xmlns:p14="http://schemas.microsoft.com/office/powerpoint/2010/main" val="1479935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/>
          <p:cNvSpPr/>
          <p:nvPr/>
        </p:nvSpPr>
        <p:spPr>
          <a:xfrm>
            <a:off x="89756" y="242870"/>
            <a:ext cx="8964488" cy="102589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7. METODOLOGIA</a:t>
            </a:r>
          </a:p>
        </p:txBody>
      </p:sp>
      <p:sp>
        <p:nvSpPr>
          <p:cNvPr id="6" name="Marcador de contenido 1"/>
          <p:cNvSpPr>
            <a:spLocks noGrp="1"/>
          </p:cNvSpPr>
          <p:nvPr>
            <p:ph idx="1"/>
          </p:nvPr>
        </p:nvSpPr>
        <p:spPr>
          <a:xfrm>
            <a:off x="297542" y="1844824"/>
            <a:ext cx="8756701" cy="4248472"/>
          </a:xfrm>
        </p:spPr>
        <p:txBody>
          <a:bodyPr>
            <a:normAutofit fontScale="92500" lnSpcReduction="10000"/>
          </a:bodyPr>
          <a:lstStyle/>
          <a:p>
            <a:pPr marL="712788" indent="-538163" algn="ctr">
              <a:lnSpc>
                <a:spcPct val="80000"/>
              </a:lnSpc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400" dirty="0"/>
              <a:t>1. Tipo y Diseño de la Investigación</a:t>
            </a:r>
          </a:p>
          <a:p>
            <a:pPr marL="712788" indent="-538163" algn="ctr">
              <a:lnSpc>
                <a:spcPct val="80000"/>
              </a:lnSpc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endParaRPr lang="es-ES" sz="4400" dirty="0"/>
          </a:p>
          <a:p>
            <a:pPr marL="712788" indent="-538163" algn="ctr">
              <a:lnSpc>
                <a:spcPct val="80000"/>
              </a:lnSpc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400" dirty="0"/>
              <a:t>2. Unidad de Análisis</a:t>
            </a:r>
          </a:p>
          <a:p>
            <a:pPr marL="712788" indent="-538163" algn="ctr">
              <a:lnSpc>
                <a:spcPct val="80000"/>
              </a:lnSpc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endParaRPr lang="es-ES" sz="4400" dirty="0"/>
          </a:p>
          <a:p>
            <a:pPr marL="712788" indent="-538163" algn="ctr">
              <a:lnSpc>
                <a:spcPct val="80000"/>
              </a:lnSpc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400" dirty="0"/>
              <a:t>3. Etapas de la Investigación</a:t>
            </a:r>
          </a:p>
          <a:p>
            <a:pPr marL="712788" indent="-538163" algn="ctr">
              <a:lnSpc>
                <a:spcPct val="80000"/>
              </a:lnSpc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endParaRPr lang="es-ES" sz="4400" dirty="0"/>
          </a:p>
          <a:p>
            <a:pPr marL="712788" indent="-538163" algn="ctr">
              <a:lnSpc>
                <a:spcPct val="80000"/>
              </a:lnSpc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400" dirty="0"/>
              <a:t>4. Matriz de Consistencia</a:t>
            </a:r>
          </a:p>
        </p:txBody>
      </p:sp>
    </p:spTree>
    <p:extLst>
      <p:ext uri="{BB962C8B-B14F-4D97-AF65-F5344CB8AC3E}">
        <p14:creationId xmlns:p14="http://schemas.microsoft.com/office/powerpoint/2010/main" val="1889547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3"/>
          <p:cNvSpPr/>
          <p:nvPr/>
        </p:nvSpPr>
        <p:spPr>
          <a:xfrm>
            <a:off x="1115616" y="88976"/>
            <a:ext cx="7560840" cy="1107776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  Tipo y Diseño de la Investigación</a:t>
            </a:r>
          </a:p>
        </p:txBody>
      </p:sp>
      <p:sp>
        <p:nvSpPr>
          <p:cNvPr id="8" name="Marcador de contenido 1"/>
          <p:cNvSpPr txBox="1">
            <a:spLocks/>
          </p:cNvSpPr>
          <p:nvPr/>
        </p:nvSpPr>
        <p:spPr>
          <a:xfrm>
            <a:off x="287524" y="1484784"/>
            <a:ext cx="8568952" cy="504056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0" algn="ctr">
              <a:spcBef>
                <a:spcPts val="1000"/>
              </a:spcBef>
              <a:buClr>
                <a:srgbClr val="00B0F0"/>
              </a:buClr>
              <a:buFont typeface="Arial" panose="020B0604020202020204" pitchFamily="34" charset="0"/>
              <a:buNone/>
            </a:pPr>
            <a:r>
              <a:rPr lang="es-ES" sz="4800" dirty="0">
                <a:solidFill>
                  <a:prstClr val="black"/>
                </a:solidFill>
              </a:rPr>
              <a:t> </a:t>
            </a:r>
            <a:r>
              <a:rPr lang="es-ES" sz="7000" b="1" dirty="0">
                <a:solidFill>
                  <a:prstClr val="black"/>
                </a:solidFill>
              </a:rPr>
              <a:t>Determinar el tipo y diseño de la investigación en base a las siguientes características : </a:t>
            </a: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Font typeface="Arial" panose="020B0604020202020204" pitchFamily="34" charset="0"/>
              <a:buNone/>
            </a:pPr>
            <a:endParaRPr lang="es-ES" sz="5900" b="1" dirty="0">
              <a:solidFill>
                <a:prstClr val="black"/>
              </a:solidFill>
            </a:endParaRP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Font typeface="Arial" panose="020B0604020202020204" pitchFamily="34" charset="0"/>
              <a:buNone/>
            </a:pPr>
            <a:r>
              <a:rPr lang="es-ES" sz="5900" dirty="0">
                <a:solidFill>
                  <a:prstClr val="black"/>
                </a:solidFill>
              </a:rPr>
              <a:t>  A. </a:t>
            </a:r>
            <a:r>
              <a:rPr lang="es-PE" sz="5900" dirty="0">
                <a:solidFill>
                  <a:prstClr val="black"/>
                </a:solidFill>
              </a:rPr>
              <a:t>Enfoque (Cuantitativo, Cualitativo, Mixta, Aplicada)</a:t>
            </a: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Font typeface="Arial" panose="020B0604020202020204" pitchFamily="34" charset="0"/>
              <a:buNone/>
            </a:pPr>
            <a:endParaRPr lang="es-PE" sz="5900" dirty="0">
              <a:solidFill>
                <a:prstClr val="black"/>
              </a:solidFill>
            </a:endParaRP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Font typeface="Arial" panose="020B0604020202020204" pitchFamily="34" charset="0"/>
              <a:buNone/>
            </a:pPr>
            <a:r>
              <a:rPr lang="es-PE" sz="5900" dirty="0">
                <a:solidFill>
                  <a:prstClr val="black"/>
                </a:solidFill>
              </a:rPr>
              <a:t>B. Alcance (exploratorio, descriptivo, </a:t>
            </a:r>
            <a:r>
              <a:rPr lang="es-PE" sz="5900" dirty="0" err="1">
                <a:solidFill>
                  <a:prstClr val="black"/>
                </a:solidFill>
              </a:rPr>
              <a:t>correlacional</a:t>
            </a:r>
            <a:r>
              <a:rPr lang="es-PE" sz="5900" dirty="0">
                <a:solidFill>
                  <a:prstClr val="black"/>
                </a:solidFill>
              </a:rPr>
              <a:t> o explicativo)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endParaRPr lang="es-PE" sz="5900" dirty="0">
              <a:solidFill>
                <a:prstClr val="black"/>
              </a:solidFill>
            </a:endParaRP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Font typeface="Arial" panose="020B0604020202020204" pitchFamily="34" charset="0"/>
              <a:buNone/>
            </a:pPr>
            <a:r>
              <a:rPr lang="es-PE" sz="5900" dirty="0">
                <a:solidFill>
                  <a:prstClr val="black"/>
                </a:solidFill>
              </a:rPr>
              <a:t>C.  Diseño de investigación (Experimental y/o No experimental</a:t>
            </a: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Font typeface="Arial" panose="020B0604020202020204" pitchFamily="34" charset="0"/>
              <a:buNone/>
            </a:pPr>
            <a:endParaRPr lang="es-ES" sz="5900" dirty="0">
              <a:solidFill>
                <a:prstClr val="black"/>
              </a:solidFill>
            </a:endParaRPr>
          </a:p>
          <a:p>
            <a:pPr marL="174625" indent="0" algn="ctr">
              <a:spcBef>
                <a:spcPts val="1000"/>
              </a:spcBef>
              <a:buClr>
                <a:srgbClr val="00B0F0"/>
              </a:buClr>
              <a:buFont typeface="Arial" panose="020B0604020202020204" pitchFamily="34" charset="0"/>
              <a:buNone/>
            </a:pPr>
            <a:r>
              <a:rPr lang="es-ES" sz="5900" dirty="0">
                <a:solidFill>
                  <a:prstClr val="black"/>
                </a:solidFill>
              </a:rPr>
              <a:t> </a:t>
            </a:r>
            <a:endParaRPr lang="es-ES" sz="4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194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360667"/>
              </p:ext>
            </p:extLst>
          </p:nvPr>
        </p:nvGraphicFramePr>
        <p:xfrm>
          <a:off x="1269243" y="1049078"/>
          <a:ext cx="6727776" cy="6210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2592">
                  <a:extLst>
                    <a:ext uri="{9D8B030D-6E8A-4147-A177-3AD203B41FA5}">
                      <a16:colId xmlns:a16="http://schemas.microsoft.com/office/drawing/2014/main" val="1806159696"/>
                    </a:ext>
                  </a:extLst>
                </a:gridCol>
                <a:gridCol w="2242592">
                  <a:extLst>
                    <a:ext uri="{9D8B030D-6E8A-4147-A177-3AD203B41FA5}">
                      <a16:colId xmlns:a16="http://schemas.microsoft.com/office/drawing/2014/main" val="606870614"/>
                    </a:ext>
                  </a:extLst>
                </a:gridCol>
                <a:gridCol w="2242592">
                  <a:extLst>
                    <a:ext uri="{9D8B030D-6E8A-4147-A177-3AD203B41FA5}">
                      <a16:colId xmlns:a16="http://schemas.microsoft.com/office/drawing/2014/main" val="436633368"/>
                    </a:ext>
                  </a:extLst>
                </a:gridCol>
              </a:tblGrid>
              <a:tr h="575953">
                <a:tc>
                  <a:txBody>
                    <a:bodyPr/>
                    <a:lstStyle/>
                    <a:p>
                      <a:r>
                        <a:rPr lang="es-EC" sz="1600" dirty="0"/>
                        <a:t>Características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Investigación cualitativa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Investigación cuantitativa</a:t>
                      </a:r>
                      <a:endParaRPr lang="en-US" sz="16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634435999"/>
                  </a:ext>
                </a:extLst>
              </a:tr>
              <a:tr h="575953">
                <a:tc>
                  <a:txBody>
                    <a:bodyPr/>
                    <a:lstStyle/>
                    <a:p>
                      <a:r>
                        <a:rPr lang="es-EC" sz="1600" dirty="0"/>
                        <a:t>Percepción de la realidad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Subjetiva. Incluyente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Objetiva. Excluyente</a:t>
                      </a:r>
                      <a:endParaRPr lang="en-US" sz="16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216995595"/>
                  </a:ext>
                </a:extLst>
              </a:tr>
              <a:tr h="625689">
                <a:tc>
                  <a:txBody>
                    <a:bodyPr/>
                    <a:lstStyle/>
                    <a:p>
                      <a:r>
                        <a:rPr lang="es-EC" sz="1600" dirty="0"/>
                        <a:t>Razonamiento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Inductivo</a:t>
                      </a:r>
                    </a:p>
                    <a:p>
                      <a:r>
                        <a:rPr lang="es-EC" sz="1600" dirty="0"/>
                        <a:t>Genera hipótesis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Deductivo</a:t>
                      </a:r>
                    </a:p>
                    <a:p>
                      <a:r>
                        <a:rPr lang="es-EC" sz="1600" dirty="0"/>
                        <a:t>Contrasta hipótesis</a:t>
                      </a:r>
                      <a:endParaRPr lang="en-US" sz="16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951872398"/>
                  </a:ext>
                </a:extLst>
              </a:tr>
              <a:tr h="893842">
                <a:tc>
                  <a:txBody>
                    <a:bodyPr/>
                    <a:lstStyle/>
                    <a:p>
                      <a:r>
                        <a:rPr lang="es-EC" sz="1600" dirty="0"/>
                        <a:t>Finalidad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Exploración</a:t>
                      </a:r>
                    </a:p>
                    <a:p>
                      <a:r>
                        <a:rPr lang="es-EC" sz="1600" dirty="0"/>
                        <a:t>Descubrimiento</a:t>
                      </a:r>
                    </a:p>
                    <a:p>
                      <a:r>
                        <a:rPr lang="es-EC" sz="1600" dirty="0"/>
                        <a:t>Expansión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Comprobación</a:t>
                      </a:r>
                    </a:p>
                    <a:p>
                      <a:r>
                        <a:rPr lang="es-EC" sz="1600" dirty="0"/>
                        <a:t>Confirmación</a:t>
                      </a:r>
                    </a:p>
                    <a:p>
                      <a:r>
                        <a:rPr lang="es-EC" sz="1600" dirty="0"/>
                        <a:t>Reducción</a:t>
                      </a:r>
                      <a:endParaRPr lang="en-US" sz="16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461103916"/>
                  </a:ext>
                </a:extLst>
              </a:tr>
              <a:tr h="575953">
                <a:tc>
                  <a:txBody>
                    <a:bodyPr/>
                    <a:lstStyle/>
                    <a:p>
                      <a:r>
                        <a:rPr lang="es-EC" sz="1600" dirty="0"/>
                        <a:t>Orientada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Al proceso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Al resultado</a:t>
                      </a:r>
                      <a:endParaRPr lang="en-US" sz="16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235114748"/>
                  </a:ext>
                </a:extLst>
              </a:tr>
              <a:tr h="1161994">
                <a:tc>
                  <a:txBody>
                    <a:bodyPr/>
                    <a:lstStyle/>
                    <a:p>
                      <a:r>
                        <a:rPr lang="es-EC" sz="1600" dirty="0"/>
                        <a:t>Principio</a:t>
                      </a:r>
                      <a:r>
                        <a:rPr lang="es-EC" sz="1600" baseline="0" dirty="0"/>
                        <a:t> de verdad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Holística</a:t>
                      </a:r>
                    </a:p>
                    <a:p>
                      <a:r>
                        <a:rPr lang="es-EC" sz="1600" dirty="0"/>
                        <a:t>Dinámica (provisoria)</a:t>
                      </a:r>
                    </a:p>
                    <a:p>
                      <a:r>
                        <a:rPr lang="es-EC" sz="1600" dirty="0"/>
                        <a:t>Se construye</a:t>
                      </a:r>
                    </a:p>
                    <a:p>
                      <a:r>
                        <a:rPr lang="es-EC" sz="1600" dirty="0"/>
                        <a:t>Centrada en diferencias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Particulariza</a:t>
                      </a:r>
                    </a:p>
                    <a:p>
                      <a:r>
                        <a:rPr lang="es-EC" sz="1600" dirty="0"/>
                        <a:t>Estable (permanente)</a:t>
                      </a:r>
                    </a:p>
                    <a:p>
                      <a:r>
                        <a:rPr lang="es-EC" sz="1600" dirty="0"/>
                        <a:t>Predetermina</a:t>
                      </a:r>
                    </a:p>
                    <a:p>
                      <a:r>
                        <a:rPr lang="es-EC" sz="1600" dirty="0"/>
                        <a:t>Centrada</a:t>
                      </a:r>
                      <a:r>
                        <a:rPr lang="es-EC" sz="1600" baseline="0" dirty="0"/>
                        <a:t> en similitudes</a:t>
                      </a:r>
                      <a:endParaRPr lang="es-EC" sz="16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885763610"/>
                  </a:ext>
                </a:extLst>
              </a:tr>
              <a:tr h="625689">
                <a:tc>
                  <a:txBody>
                    <a:bodyPr/>
                    <a:lstStyle/>
                    <a:p>
                      <a:r>
                        <a:rPr lang="es-EC" sz="1600" dirty="0"/>
                        <a:t>Perspectiva</a:t>
                      </a:r>
                      <a:r>
                        <a:rPr lang="es-EC" sz="1600" baseline="0" dirty="0"/>
                        <a:t> del investigador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Desde dentro (próximo</a:t>
                      </a:r>
                      <a:r>
                        <a:rPr lang="es-EC" sz="1600" baseline="0" dirty="0"/>
                        <a:t> a los datos)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Desde afuera (al margen de los datos).</a:t>
                      </a:r>
                      <a:endParaRPr lang="en-US" sz="16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142725010"/>
                  </a:ext>
                </a:extLst>
              </a:tr>
              <a:tr h="575953">
                <a:tc>
                  <a:txBody>
                    <a:bodyPr/>
                    <a:lstStyle/>
                    <a:p>
                      <a:r>
                        <a:rPr lang="es-EC" sz="1600" dirty="0"/>
                        <a:t>Causalidad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Interacción de factores</a:t>
                      </a:r>
                      <a:endParaRPr lang="en-US" sz="16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EC" sz="1600" dirty="0"/>
                        <a:t>Antecedentes específico</a:t>
                      </a:r>
                      <a:endParaRPr lang="en-US" sz="16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529910585"/>
                  </a:ext>
                </a:extLst>
              </a:tr>
            </a:tbl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163774" y="95537"/>
            <a:ext cx="89802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2800" dirty="0">
                <a:solidFill>
                  <a:srgbClr val="A53010">
                    <a:lumMod val="75000"/>
                  </a:srgbClr>
                </a:solidFill>
                <a:latin typeface="Britannic Bold" panose="020B0903060703020204" pitchFamily="34" charset="0"/>
              </a:rPr>
              <a:t>Características epistemológicas de la investigación cualitativa y cuantitativa</a:t>
            </a:r>
            <a:endParaRPr lang="en-US" sz="2800" dirty="0">
              <a:solidFill>
                <a:srgbClr val="A53010">
                  <a:lumMod val="75000"/>
                </a:srgbClr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279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/>
          <p:cNvSpPr/>
          <p:nvPr/>
        </p:nvSpPr>
        <p:spPr>
          <a:xfrm>
            <a:off x="89756" y="242870"/>
            <a:ext cx="8964488" cy="102589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UNIDAD DE ANALISIS</a:t>
            </a:r>
          </a:p>
        </p:txBody>
      </p:sp>
      <p:sp>
        <p:nvSpPr>
          <p:cNvPr id="6" name="Marcador de contenido 1"/>
          <p:cNvSpPr>
            <a:spLocks noGrp="1"/>
          </p:cNvSpPr>
          <p:nvPr>
            <p:ph idx="1"/>
          </p:nvPr>
        </p:nvSpPr>
        <p:spPr>
          <a:xfrm>
            <a:off x="297543" y="1700808"/>
            <a:ext cx="8568952" cy="3888432"/>
          </a:xfrm>
        </p:spPr>
        <p:txBody>
          <a:bodyPr>
            <a:normAutofit lnSpcReduction="10000"/>
          </a:bodyPr>
          <a:lstStyle/>
          <a:p>
            <a:pPr marL="712788" indent="-538163" algn="ctr">
              <a:lnSpc>
                <a:spcPct val="80000"/>
              </a:lnSpc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400" dirty="0"/>
              <a:t>1. Corresponde al sujeto de estudio de la investigación</a:t>
            </a:r>
          </a:p>
          <a:p>
            <a:pPr marL="174625" indent="0" algn="ctr">
              <a:lnSpc>
                <a:spcPct val="80000"/>
              </a:lnSpc>
              <a:spcBef>
                <a:spcPts val="1000"/>
              </a:spcBef>
              <a:buClr>
                <a:srgbClr val="00B0F0"/>
              </a:buClr>
              <a:buNone/>
            </a:pPr>
            <a:r>
              <a:rPr lang="es-ES" sz="4400" dirty="0"/>
              <a:t> (Organización, equipo, maquinaria)</a:t>
            </a:r>
          </a:p>
          <a:p>
            <a:pPr marL="174625" indent="0" algn="ctr">
              <a:lnSpc>
                <a:spcPct val="80000"/>
              </a:lnSpc>
              <a:spcBef>
                <a:spcPts val="1000"/>
              </a:spcBef>
              <a:buClr>
                <a:srgbClr val="00B0F0"/>
              </a:buClr>
              <a:buNone/>
            </a:pPr>
            <a:endParaRPr lang="es-ES" sz="4400" dirty="0"/>
          </a:p>
          <a:p>
            <a:pPr marL="174625" indent="0" algn="ctr">
              <a:lnSpc>
                <a:spcPct val="80000"/>
              </a:lnSpc>
              <a:spcBef>
                <a:spcPts val="1000"/>
              </a:spcBef>
              <a:buClr>
                <a:srgbClr val="00B0F0"/>
              </a:buClr>
              <a:buNone/>
            </a:pPr>
            <a:r>
              <a:rPr lang="es-ES" sz="4400" dirty="0"/>
              <a:t>2. </a:t>
            </a:r>
            <a:r>
              <a:rPr lang="es-ES" sz="4400" dirty="0">
                <a:solidFill>
                  <a:prstClr val="black"/>
                </a:solidFill>
              </a:rPr>
              <a:t>Describir características, especificaciones y ubicación del sujeto de estudio</a:t>
            </a:r>
            <a:endParaRPr lang="es-ES" sz="4400" dirty="0"/>
          </a:p>
        </p:txBody>
      </p:sp>
    </p:spTree>
    <p:extLst>
      <p:ext uri="{BB962C8B-B14F-4D97-AF65-F5344CB8AC3E}">
        <p14:creationId xmlns:p14="http://schemas.microsoft.com/office/powerpoint/2010/main" val="1193791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3"/>
          <p:cNvSpPr/>
          <p:nvPr/>
        </p:nvSpPr>
        <p:spPr>
          <a:xfrm>
            <a:off x="179512" y="0"/>
            <a:ext cx="8874732" cy="126641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ETAPAS DE LA INVESTIGACIÓN </a:t>
            </a:r>
          </a:p>
        </p:txBody>
      </p:sp>
      <p:sp>
        <p:nvSpPr>
          <p:cNvPr id="6" name="Marcador de contenido 1"/>
          <p:cNvSpPr>
            <a:spLocks noGrp="1"/>
          </p:cNvSpPr>
          <p:nvPr>
            <p:ph idx="1"/>
          </p:nvPr>
        </p:nvSpPr>
        <p:spPr>
          <a:xfrm>
            <a:off x="0" y="1340768"/>
            <a:ext cx="9144000" cy="5328592"/>
          </a:xfrm>
        </p:spPr>
        <p:txBody>
          <a:bodyPr>
            <a:normAutofit/>
          </a:bodyPr>
          <a:lstStyle/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000" b="1" dirty="0"/>
              <a:t>Describir Conceptualmente</a:t>
            </a:r>
            <a:r>
              <a:rPr lang="es-ES" sz="4000" dirty="0"/>
              <a:t>: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 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1. </a:t>
            </a:r>
            <a:r>
              <a:rPr lang="es-ES" sz="4400" dirty="0"/>
              <a:t>RECOLECCIÓN DE DATOS</a:t>
            </a:r>
            <a:endParaRPr lang="es-ES" sz="4400" dirty="0">
              <a:solidFill>
                <a:prstClr val="black"/>
              </a:solidFill>
            </a:endParaRP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400" dirty="0"/>
              <a:t>2. PROCESAMIENTO DE LA INFORMACIÓN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400" dirty="0"/>
              <a:t>3. ANALISIS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975885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/>
          <p:cNvSpPr/>
          <p:nvPr/>
        </p:nvSpPr>
        <p:spPr>
          <a:xfrm>
            <a:off x="89756" y="242870"/>
            <a:ext cx="8964488" cy="102589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MATRIZ DE CONSISTENCIA</a:t>
            </a:r>
          </a:p>
        </p:txBody>
      </p:sp>
      <p:sp>
        <p:nvSpPr>
          <p:cNvPr id="6" name="Marcador de contenido 1"/>
          <p:cNvSpPr>
            <a:spLocks noGrp="1"/>
          </p:cNvSpPr>
          <p:nvPr>
            <p:ph idx="1"/>
          </p:nvPr>
        </p:nvSpPr>
        <p:spPr>
          <a:xfrm>
            <a:off x="297543" y="1700808"/>
            <a:ext cx="8568952" cy="3888432"/>
          </a:xfrm>
        </p:spPr>
        <p:txBody>
          <a:bodyPr>
            <a:normAutofit/>
          </a:bodyPr>
          <a:lstStyle/>
          <a:p>
            <a:pPr marL="712788" indent="-538163" algn="ctr">
              <a:lnSpc>
                <a:spcPct val="80000"/>
              </a:lnSpc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endParaRPr lang="es-ES" sz="4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00" y="1412776"/>
            <a:ext cx="9196388" cy="455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2269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ángulo 4"/>
          <p:cNvSpPr/>
          <p:nvPr/>
        </p:nvSpPr>
        <p:spPr>
          <a:xfrm>
            <a:off x="89756" y="242870"/>
            <a:ext cx="8964488" cy="102589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8. CRONOGRAMA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88" y="-188913"/>
            <a:ext cx="7716837" cy="7242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9682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87524" y="980728"/>
            <a:ext cx="8766720" cy="5400600"/>
          </a:xfrm>
        </p:spPr>
        <p:txBody>
          <a:bodyPr>
            <a:normAutofit fontScale="55000" lnSpcReduction="20000"/>
          </a:bodyPr>
          <a:lstStyle/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1. </a:t>
            </a:r>
            <a:r>
              <a:rPr lang="es-ES" sz="5800" dirty="0"/>
              <a:t>Enumerar las fuentes bibliográficas, ordenándolas en forma alfabética por apellido del autor (persona natural o jur</a:t>
            </a:r>
            <a:r>
              <a:rPr lang="es-ES" sz="5800" b="1" dirty="0">
                <a:latin typeface="Aharoni" panose="02010803020104030203" pitchFamily="2" charset="-79"/>
                <a:cs typeface="Aharoni" panose="02010803020104030203" pitchFamily="2" charset="-79"/>
              </a:rPr>
              <a:t>í</a:t>
            </a:r>
            <a:r>
              <a:rPr lang="es-ES" sz="5800" dirty="0"/>
              <a:t>dica). 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endParaRPr lang="es-ES" sz="5800" dirty="0"/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5800" dirty="0"/>
              <a:t>2. Incluir inmediatamente después del autor, el titulo de la fuente bibliográfica en comillas, continuando con editorial y año de publicación.</a:t>
            </a:r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endParaRPr lang="es-ES" sz="5800" dirty="0"/>
          </a:p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5800" dirty="0"/>
              <a:t> 3. Emplear como llave de referencia, la numeración de la fuente bibliográfica, colocando entre corchetes, la fuente bibliográfica de sustento, en el contenido del texto.  </a:t>
            </a: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1115616" y="0"/>
            <a:ext cx="7416824" cy="9807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9. REFERENCIAS BIBLIOGRAFICAS</a:t>
            </a:r>
          </a:p>
        </p:txBody>
      </p:sp>
    </p:spTree>
    <p:extLst>
      <p:ext uri="{BB962C8B-B14F-4D97-AF65-F5344CB8AC3E}">
        <p14:creationId xmlns:p14="http://schemas.microsoft.com/office/powerpoint/2010/main" val="3098582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3"/>
          <p:cNvSpPr/>
          <p:nvPr/>
        </p:nvSpPr>
        <p:spPr>
          <a:xfrm>
            <a:off x="89756" y="0"/>
            <a:ext cx="8964488" cy="134076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prstClr val="white"/>
                </a:solidFill>
              </a:rPr>
              <a:t>PLAN DE TRABAJO DE SUFICIENCIA</a:t>
            </a:r>
          </a:p>
          <a:p>
            <a:pPr algn="ctr"/>
            <a:r>
              <a:rPr lang="es-ES" sz="3200" b="1" dirty="0">
                <a:solidFill>
                  <a:prstClr val="white"/>
                </a:solidFill>
              </a:rPr>
              <a:t>10. ANEXOS</a:t>
            </a:r>
            <a:r>
              <a:rPr lang="es-ES" sz="3600" b="1" dirty="0">
                <a:solidFill>
                  <a:prstClr val="white"/>
                </a:solidFill>
              </a:rPr>
              <a:t> </a:t>
            </a:r>
          </a:p>
        </p:txBody>
      </p:sp>
      <p:sp>
        <p:nvSpPr>
          <p:cNvPr id="7" name="4 Marcador de contenido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5040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PE" sz="3200" dirty="0"/>
              <a:t>INCORPORAR LOS INSTRUMENTOS DE RECOLECCIÓN DE DATOS, INCLUYENDO:</a:t>
            </a:r>
          </a:p>
          <a:p>
            <a:pPr marL="0" indent="0">
              <a:buNone/>
            </a:pPr>
            <a:endParaRPr lang="es-PE" sz="3200" dirty="0"/>
          </a:p>
          <a:p>
            <a:pPr marL="0" indent="0">
              <a:buNone/>
            </a:pPr>
            <a:r>
              <a:rPr lang="es-PE" sz="3200" dirty="0"/>
              <a:t>	-	</a:t>
            </a:r>
            <a:r>
              <a:rPr lang="es-PE" sz="2800" dirty="0"/>
              <a:t>Formatos (Registros, Mediciones, Pruebas)</a:t>
            </a:r>
          </a:p>
          <a:p>
            <a:pPr marL="0" indent="0">
              <a:buNone/>
            </a:pPr>
            <a:r>
              <a:rPr lang="es-PE" sz="2800" dirty="0"/>
              <a:t>	-  	Preguntas (Cuestionarios, Encuestas)</a:t>
            </a:r>
          </a:p>
          <a:p>
            <a:pPr marL="0" indent="0">
              <a:buNone/>
            </a:pPr>
            <a:r>
              <a:rPr lang="es-PE" sz="28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683648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4C037522-C2CF-4844-93A2-8A19AD565F53}"/>
              </a:ext>
            </a:extLst>
          </p:cNvPr>
          <p:cNvSpPr txBox="1"/>
          <p:nvPr/>
        </p:nvSpPr>
        <p:spPr>
          <a:xfrm>
            <a:off x="228599" y="228596"/>
            <a:ext cx="872197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s-PE" sz="24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                                 ESTRUCTURA DE LA TESIS</a:t>
            </a:r>
          </a:p>
          <a:p>
            <a:pPr marL="285750" indent="-285750" defTabSz="457200">
              <a:buFont typeface="Wingdings" panose="05000000000000000000" pitchFamily="2" charset="2"/>
              <a:buChar char="ü"/>
            </a:pPr>
            <a:r>
              <a:rPr lang="es-PE" sz="20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TÍTULO</a:t>
            </a:r>
          </a:p>
          <a:p>
            <a:pPr marL="285750" indent="-285750" defTabSz="457200">
              <a:buFont typeface="Wingdings" panose="05000000000000000000" pitchFamily="2" charset="2"/>
              <a:buChar char="ü"/>
            </a:pPr>
            <a:r>
              <a:rPr lang="es-PE" sz="20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RESUMEN</a:t>
            </a:r>
          </a:p>
          <a:p>
            <a:pPr marL="285750" indent="-285750" defTabSz="457200">
              <a:buFont typeface="Wingdings" panose="05000000000000000000" pitchFamily="2" charset="2"/>
              <a:buChar char="ü"/>
            </a:pPr>
            <a:r>
              <a:rPr lang="es-PE" sz="20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ABSTRACT</a:t>
            </a:r>
          </a:p>
          <a:p>
            <a:pPr marL="285750" indent="-285750" defTabSz="457200">
              <a:buFont typeface="Wingdings" panose="05000000000000000000" pitchFamily="2" charset="2"/>
              <a:buChar char="ü"/>
            </a:pPr>
            <a:r>
              <a:rPr lang="es-PE" sz="20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PROLOGO</a:t>
            </a:r>
          </a:p>
          <a:p>
            <a:pPr marL="285750" indent="-285750" defTabSz="457200">
              <a:buFont typeface="Wingdings" panose="05000000000000000000" pitchFamily="2" charset="2"/>
              <a:buChar char="ü"/>
            </a:pPr>
            <a:r>
              <a:rPr lang="es-PE" sz="20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INDICE</a:t>
            </a:r>
          </a:p>
          <a:p>
            <a:pPr marL="914400" lvl="1" indent="-457200" defTabSz="457200">
              <a:buFont typeface="Arial" panose="020B0604020202020204" pitchFamily="34" charset="0"/>
              <a:buChar char="•"/>
            </a:pPr>
            <a:r>
              <a:rPr lang="es-PE" sz="24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CAPITULO I. INTRODUCCIÓN</a:t>
            </a:r>
          </a:p>
          <a:p>
            <a:pPr lvl="2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1.1 Generalidades</a:t>
            </a:r>
          </a:p>
          <a:p>
            <a:pPr lvl="2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1.2 Descripción del Problema de Investigación</a:t>
            </a:r>
          </a:p>
          <a:p>
            <a:pPr lvl="2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1.3 Objetivos del Estudio</a:t>
            </a:r>
          </a:p>
          <a:p>
            <a:pPr lvl="3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1.3.1 Objetivo General</a:t>
            </a:r>
          </a:p>
          <a:p>
            <a:pPr lvl="3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1.3.2 Objetivos </a:t>
            </a:r>
            <a:r>
              <a:rPr lang="es-PE" sz="2400" dirty="0" err="1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Especificos</a:t>
            </a:r>
            <a:endParaRPr lang="es-PE" sz="2400" dirty="0">
              <a:solidFill>
                <a:prstClr val="black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lvl="2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1.4 Antecedentes Investigativos (Resumen de tesis, 	artículos, etc.) referidos al tema de investigación.</a:t>
            </a:r>
          </a:p>
          <a:p>
            <a:pPr marL="800100" lvl="1" indent="-342900" defTabSz="457200">
              <a:buFont typeface="Arial" panose="020B0604020202020204" pitchFamily="34" charset="0"/>
              <a:buChar char="•"/>
            </a:pPr>
            <a:r>
              <a:rPr lang="es-PE" sz="24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CAPITULO II. MARCOS TEÓRICO Y CONCEPTUAL</a:t>
            </a:r>
          </a:p>
          <a:p>
            <a:pPr lvl="1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     2.1 Marco Teórico (búsqueda de información en libros, revistas, </a:t>
            </a:r>
            <a:r>
              <a:rPr lang="es-PE" sz="2400" dirty="0" err="1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etc</a:t>
            </a:r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;      	     relacionados directamente e indirectamente con la investigación)</a:t>
            </a:r>
          </a:p>
          <a:p>
            <a:pPr lvl="1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	     2.1.1. ………………………….</a:t>
            </a:r>
          </a:p>
          <a:p>
            <a:pPr lvl="1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	     2.1.2. ………………………….</a:t>
            </a:r>
          </a:p>
          <a:p>
            <a:pPr marL="285750" indent="-285750" defTabSz="457200">
              <a:buFont typeface="Wingdings" panose="05000000000000000000" pitchFamily="2" charset="2"/>
              <a:buChar char="ü"/>
            </a:pPr>
            <a:endParaRPr lang="es-PE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336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EE9BE8A-8BE0-4B83-9189-42A35CD4C838}"/>
              </a:ext>
            </a:extLst>
          </p:cNvPr>
          <p:cNvSpPr txBox="1"/>
          <p:nvPr/>
        </p:nvSpPr>
        <p:spPr>
          <a:xfrm>
            <a:off x="140674" y="246181"/>
            <a:ext cx="900332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just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2.2  Marco Conceptual (se describen o analizan los principales         	  	conceptos que se utilizan en la investigación)</a:t>
            </a:r>
          </a:p>
          <a:p>
            <a:pPr lvl="1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	        a). ………………………….</a:t>
            </a:r>
          </a:p>
          <a:p>
            <a:pPr lvl="1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	        b). ………………………….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PE" sz="24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CAPITULO III. HIPOTESIS Y OPERACIONALIZACIÓN DE 						    VARIABLES</a:t>
            </a:r>
            <a:endParaRPr lang="es-PE" sz="2400" dirty="0">
              <a:solidFill>
                <a:srgbClr val="0000CC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PE" sz="24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CAPITULO IV. METODOLOGÍA  DE LA  INVESTIGACIÓN</a:t>
            </a:r>
          </a:p>
          <a:p>
            <a:pPr lvl="2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4.1 Tipo y Diseño de la Investigación</a:t>
            </a:r>
          </a:p>
          <a:p>
            <a:pPr lvl="2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4.2 Unidad de Análisis</a:t>
            </a:r>
          </a:p>
          <a:p>
            <a:pPr lvl="2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4.3 Matriz de consistencia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PE" sz="24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CAPITULO V. DESARROLLO DEL TRABAJO  DE INVESTIGACIÓN</a:t>
            </a:r>
          </a:p>
          <a:p>
            <a:pPr lvl="2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5.1 …………………………………..</a:t>
            </a:r>
          </a:p>
          <a:p>
            <a:pPr lvl="2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	5.1.1 ……………………………..</a:t>
            </a:r>
          </a:p>
          <a:p>
            <a:pPr lvl="2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	5.1.2 ……………………………..</a:t>
            </a:r>
          </a:p>
          <a:p>
            <a:pPr lvl="2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5.2 ……………………………………………</a:t>
            </a:r>
          </a:p>
          <a:p>
            <a:pPr lvl="2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	5.2.1 ……………………………….</a:t>
            </a:r>
          </a:p>
          <a:p>
            <a:pPr lvl="2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	5.2.2 ………………………………….</a:t>
            </a:r>
          </a:p>
        </p:txBody>
      </p:sp>
    </p:spTree>
    <p:extLst>
      <p:ext uri="{BB962C8B-B14F-4D97-AF65-F5344CB8AC3E}">
        <p14:creationId xmlns:p14="http://schemas.microsoft.com/office/powerpoint/2010/main" val="364324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77D09FB-2FE0-40D5-A4D2-AE996D5E8872}"/>
              </a:ext>
            </a:extLst>
          </p:cNvPr>
          <p:cNvSpPr txBox="1"/>
          <p:nvPr/>
        </p:nvSpPr>
        <p:spPr>
          <a:xfrm>
            <a:off x="140674" y="474786"/>
            <a:ext cx="90033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 defTabSz="457200">
              <a:buFont typeface="Arial" panose="020B0604020202020204" pitchFamily="34" charset="0"/>
              <a:buChar char="•"/>
            </a:pPr>
            <a:r>
              <a:rPr lang="es-PE" sz="24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CAPITULO VI. ANÁLISIS Y DISCUSIÓN DE RESULTADOS</a:t>
            </a:r>
          </a:p>
          <a:p>
            <a:pPr lvl="2" algn="just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6.1 …………………………………..</a:t>
            </a:r>
          </a:p>
          <a:p>
            <a:pPr lvl="2" algn="just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	6.1.1 ……………………………..</a:t>
            </a:r>
          </a:p>
          <a:p>
            <a:pPr lvl="2" algn="just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	6.1.2 ……………………………..</a:t>
            </a:r>
          </a:p>
          <a:p>
            <a:pPr lvl="2" algn="just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6.2 ……………………………………………</a:t>
            </a:r>
          </a:p>
          <a:p>
            <a:pPr lvl="2" algn="just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	6.2.1 ……………………………….</a:t>
            </a:r>
          </a:p>
          <a:p>
            <a:pPr lvl="2" algn="just" defTabSz="457200"/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	6.2.2 ………………………………….</a:t>
            </a:r>
          </a:p>
          <a:p>
            <a:pPr marL="800100" lvl="1" indent="-342900" algn="just" defTabSz="457200">
              <a:buFont typeface="Arial" panose="020B0604020202020204" pitchFamily="34" charset="0"/>
              <a:buChar char="•"/>
            </a:pPr>
            <a:r>
              <a:rPr lang="es-PE" sz="24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CONCLUSIONES</a:t>
            </a:r>
          </a:p>
          <a:p>
            <a:pPr marL="800100" lvl="1" indent="-342900" algn="just" defTabSz="457200">
              <a:buFont typeface="Arial" panose="020B0604020202020204" pitchFamily="34" charset="0"/>
              <a:buChar char="•"/>
            </a:pPr>
            <a:r>
              <a:rPr lang="es-PE" sz="24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RECOMENDACIONES</a:t>
            </a:r>
          </a:p>
          <a:p>
            <a:pPr marL="800100" lvl="1" indent="-342900" algn="just" defTabSz="457200">
              <a:buFont typeface="Arial" panose="020B0604020202020204" pitchFamily="34" charset="0"/>
              <a:buChar char="•"/>
            </a:pPr>
            <a:r>
              <a:rPr lang="es-PE" sz="24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REFERENCIAS BIBLIOGRAFICAS  </a:t>
            </a:r>
            <a:r>
              <a:rPr lang="es-PE" sz="2400" dirty="0">
                <a:solidFill>
                  <a:prstClr val="black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- Formato de Normas APA (American Psychological Association)</a:t>
            </a:r>
          </a:p>
          <a:p>
            <a:pPr marL="800100" lvl="1" indent="-342900" algn="just" defTabSz="457200">
              <a:buFont typeface="Arial" panose="020B0604020202020204" pitchFamily="34" charset="0"/>
              <a:buChar char="•"/>
            </a:pPr>
            <a:r>
              <a:rPr lang="es-PE" sz="2400" b="1" dirty="0">
                <a:solidFill>
                  <a:srgbClr val="0000CC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988857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87524" y="2636912"/>
            <a:ext cx="8568952" cy="3744416"/>
          </a:xfrm>
        </p:spPr>
        <p:txBody>
          <a:bodyPr>
            <a:normAutofit/>
          </a:bodyPr>
          <a:lstStyle/>
          <a:p>
            <a:pPr marL="712788" indent="-538163" algn="ctr">
              <a:spcBef>
                <a:spcPts val="1000"/>
              </a:spcBef>
              <a:buClr>
                <a:srgbClr val="00B0F0"/>
              </a:buClr>
              <a:buFont typeface="Wingdings" panose="05000000000000000000" pitchFamily="2" charset="2"/>
              <a:buChar char=""/>
            </a:pPr>
            <a:r>
              <a:rPr lang="es-ES" sz="4800" dirty="0"/>
              <a:t>MUCHAS GRACIAS</a:t>
            </a:r>
          </a:p>
        </p:txBody>
      </p:sp>
      <p:cxnSp>
        <p:nvCxnSpPr>
          <p:cNvPr id="3" name="Conector recto 2"/>
          <p:cNvCxnSpPr/>
          <p:nvPr/>
        </p:nvCxnSpPr>
        <p:spPr>
          <a:xfrm>
            <a:off x="89756" y="980728"/>
            <a:ext cx="896448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/>
          <p:cNvSpPr/>
          <p:nvPr/>
        </p:nvSpPr>
        <p:spPr>
          <a:xfrm>
            <a:off x="89756" y="88977"/>
            <a:ext cx="7434572" cy="89175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prstClr val="white"/>
                </a:solidFill>
              </a:rPr>
              <a:t>EL PROBLEMA NO ES ESTAR MAL</a:t>
            </a:r>
          </a:p>
          <a:p>
            <a:pPr algn="ctr"/>
            <a:r>
              <a:rPr lang="es-ES" sz="3200" b="1" dirty="0">
                <a:solidFill>
                  <a:prstClr val="white"/>
                </a:solidFill>
              </a:rPr>
              <a:t> EL PROBLEMA ES NO MEJORAR</a:t>
            </a:r>
          </a:p>
        </p:txBody>
      </p:sp>
    </p:spTree>
    <p:extLst>
      <p:ext uri="{BB962C8B-B14F-4D97-AF65-F5344CB8AC3E}">
        <p14:creationId xmlns:p14="http://schemas.microsoft.com/office/powerpoint/2010/main" val="15899143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3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4.xml><?xml version="1.0" encoding="utf-8"?>
<a:theme xmlns:a="http://schemas.openxmlformats.org/drawingml/2006/main" name="6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5.xml><?xml version="1.0" encoding="utf-8"?>
<a:theme xmlns:a="http://schemas.openxmlformats.org/drawingml/2006/main" name="8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6.xml><?xml version="1.0" encoding="utf-8"?>
<a:theme xmlns:a="http://schemas.openxmlformats.org/drawingml/2006/main" name="9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7.xml><?xml version="1.0" encoding="utf-8"?>
<a:theme xmlns:a="http://schemas.openxmlformats.org/drawingml/2006/main" name="5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0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10.xml><?xml version="1.0" encoding="utf-8"?>
<a:theme xmlns:a="http://schemas.openxmlformats.org/drawingml/2006/main" name="1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11.xml><?xml version="1.0" encoding="utf-8"?>
<a:theme xmlns:a="http://schemas.openxmlformats.org/drawingml/2006/main" name="1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12.xml><?xml version="1.0" encoding="utf-8"?>
<a:theme xmlns:a="http://schemas.openxmlformats.org/drawingml/2006/main" name="18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13.xml><?xml version="1.0" encoding="utf-8"?>
<a:theme xmlns:a="http://schemas.openxmlformats.org/drawingml/2006/main" name="19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14.xml><?xml version="1.0" encoding="utf-8"?>
<a:theme xmlns:a="http://schemas.openxmlformats.org/drawingml/2006/main" name="20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15.xml><?xml version="1.0" encoding="utf-8"?>
<a:theme xmlns:a="http://schemas.openxmlformats.org/drawingml/2006/main" name="2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16.xml><?xml version="1.0" encoding="utf-8"?>
<a:theme xmlns:a="http://schemas.openxmlformats.org/drawingml/2006/main" name="2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17.xml><?xml version="1.0" encoding="utf-8"?>
<a:theme xmlns:a="http://schemas.openxmlformats.org/drawingml/2006/main" name="24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18.xml><?xml version="1.0" encoding="utf-8"?>
<a:theme xmlns:a="http://schemas.openxmlformats.org/drawingml/2006/main" name="29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19.xml><?xml version="1.0" encoding="utf-8"?>
<a:theme xmlns:a="http://schemas.openxmlformats.org/drawingml/2006/main" name="30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lly2.potx" id="{5A0B4AD7-C3BD-4349-BF70-7821AD4BB136}" vid="{276CE4E9-D111-4FEE-98A4-BF6C8D593DB7}"/>
    </a:ext>
  </a:extLst>
</a:theme>
</file>

<file path=ppt/theme/theme20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11859</TotalTime>
  <Words>1388</Words>
  <Application>Microsoft Office PowerPoint</Application>
  <PresentationFormat>Presentación en pantalla (4:3)</PresentationFormat>
  <Paragraphs>254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20</vt:i4>
      </vt:variant>
      <vt:variant>
        <vt:lpstr>Títulos de diapositiva</vt:lpstr>
      </vt:variant>
      <vt:variant>
        <vt:i4>33</vt:i4>
      </vt:variant>
    </vt:vector>
  </HeadingPairs>
  <TitlesOfParts>
    <vt:vector size="65" baseType="lpstr">
      <vt:lpstr>Aharoni</vt:lpstr>
      <vt:lpstr>Arial</vt:lpstr>
      <vt:lpstr>Arial Black</vt:lpstr>
      <vt:lpstr>Arial Narrow</vt:lpstr>
      <vt:lpstr>Berlin Sans FB Demi</vt:lpstr>
      <vt:lpstr>Britannic Bold</vt:lpstr>
      <vt:lpstr>Calibri</vt:lpstr>
      <vt:lpstr>Calibri Light</vt:lpstr>
      <vt:lpstr>Century Gothic</vt:lpstr>
      <vt:lpstr>Cooper Black</vt:lpstr>
      <vt:lpstr>Wingdings</vt:lpstr>
      <vt:lpstr>Wingdings 3</vt:lpstr>
      <vt:lpstr>Tema de Office</vt:lpstr>
      <vt:lpstr>1_Tema de Office</vt:lpstr>
      <vt:lpstr>2_Tema de Office</vt:lpstr>
      <vt:lpstr>6_Tema de Office</vt:lpstr>
      <vt:lpstr>8_Tema de Office</vt:lpstr>
      <vt:lpstr>9_Tema de Office</vt:lpstr>
      <vt:lpstr>5_Tema de Office</vt:lpstr>
      <vt:lpstr>7_Tema de Office</vt:lpstr>
      <vt:lpstr>10_Tema de Office</vt:lpstr>
      <vt:lpstr>11_Tema de Office</vt:lpstr>
      <vt:lpstr>12_Tema de Office</vt:lpstr>
      <vt:lpstr>18_Tema de Office</vt:lpstr>
      <vt:lpstr>19_Tema de Office</vt:lpstr>
      <vt:lpstr>20_Tema de Office</vt:lpstr>
      <vt:lpstr>22_Tema de Office</vt:lpstr>
      <vt:lpstr>23_Tema de Office</vt:lpstr>
      <vt:lpstr>24_Tema de Office</vt:lpstr>
      <vt:lpstr>29_Tema de Office</vt:lpstr>
      <vt:lpstr>30_Tema de Office</vt:lpstr>
      <vt:lpstr>Espiral</vt:lpstr>
      <vt:lpstr>    Universidad nacional de Ingeniería facultad de ingeniería GEOLÓGICA, MINERA Y METALURGICA SEGUNDO PROGRAMA DE TITULACIÓN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Sully Olga Salazar Salomé</dc:creator>
  <cp:lastModifiedBy>Renato Perez</cp:lastModifiedBy>
  <cp:revision>328</cp:revision>
  <dcterms:created xsi:type="dcterms:W3CDTF">2014-06-27T23:44:22Z</dcterms:created>
  <dcterms:modified xsi:type="dcterms:W3CDTF">2024-11-18T21:42:15Z</dcterms:modified>
</cp:coreProperties>
</file>